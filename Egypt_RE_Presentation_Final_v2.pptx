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59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103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g-housing-appraisal.streamlit.app/" TargetMode="External"/><Relationship Id="rId5" Type="http://schemas.openxmlformats.org/officeDocument/2006/relationships/hyperlink" Target="https://github.com/nhahub/NHA-4-032.git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474720" y="0"/>
            <a:ext cx="566928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538" y="292308"/>
            <a:ext cx="3474720" cy="128016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19456"/>
            <a:ext cx="877824" cy="54864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91440"/>
            <a:ext cx="1828800" cy="6217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000000"/>
                </a:solidFill>
              </a:rPr>
              <a:t>🏠</a:t>
            </a:r>
            <a:endParaRPr lang="en-US" sz="5800" dirty="0"/>
          </a:p>
        </p:txBody>
      </p:sp>
      <p:sp>
        <p:nvSpPr>
          <p:cNvPr id="9" name="Text 5"/>
          <p:cNvSpPr/>
          <p:nvPr/>
        </p:nvSpPr>
        <p:spPr>
          <a:xfrm>
            <a:off x="256032" y="1956816"/>
            <a:ext cx="2962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700" dirty="0">
                <a:solidFill>
                  <a:srgbClr val="C8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256032" y="2231136"/>
            <a:ext cx="2962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Egypt Pioneers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256032" y="2450592"/>
            <a:ext cx="2962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B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Track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749040" y="82296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 Real Estate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3749040" y="1399032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Appraiser</a:t>
            </a:r>
            <a:endParaRPr lang="en-US" sz="3200" dirty="0"/>
          </a:p>
        </p:txBody>
      </p:sp>
      <p:sp>
        <p:nvSpPr>
          <p:cNvPr id="15" name="Text 10"/>
          <p:cNvSpPr/>
          <p:nvPr/>
        </p:nvSpPr>
        <p:spPr>
          <a:xfrm>
            <a:off x="3749040" y="2066544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Property Price Prediction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749040" y="23591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Dubizzle Scrape  |  74,240 Records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3749040" y="2641773"/>
            <a:ext cx="5212080" cy="36576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3749040" y="2798064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r>
              <a:rPr lang="en-US" sz="1100" dirty="0"/>
              <a:t>Ahmed El-</a:t>
            </a:r>
            <a:r>
              <a:rPr lang="en-US" sz="1100" dirty="0" err="1"/>
              <a:t>Shawadify</a:t>
            </a:r>
            <a:r>
              <a:rPr lang="en-US" sz="1100" dirty="0"/>
              <a:t>    -</a:t>
            </a:r>
            <a:r>
              <a:rPr lang="en-US" sz="1200" dirty="0"/>
              <a:t>Haitham Hany   -Sara Mohamed    -Hayam Abdullah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749040" y="3255264"/>
            <a:ext cx="1216152" cy="658368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3749040" y="3273552"/>
            <a:ext cx="1216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3749040" y="3630168"/>
            <a:ext cx="1216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5056632" y="3255264"/>
            <a:ext cx="1216152" cy="658368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5056632" y="3273552"/>
            <a:ext cx="1216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3.53M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056632" y="3630168"/>
            <a:ext cx="1216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(EGP)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6364224" y="3255264"/>
            <a:ext cx="1216152" cy="658368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6364224" y="3273552"/>
            <a:ext cx="1216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27.87%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6364224" y="3630168"/>
            <a:ext cx="1216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7671816" y="3255264"/>
            <a:ext cx="1216152" cy="658368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7671816" y="3273552"/>
            <a:ext cx="1216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30" name="Text 25"/>
          <p:cNvSpPr/>
          <p:nvPr/>
        </p:nvSpPr>
        <p:spPr>
          <a:xfrm>
            <a:off x="7671816" y="3630168"/>
            <a:ext cx="1216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Models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74320" y="4882896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Final Project  ·  May 2026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274320" y="1280160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274320" y="1280160"/>
            <a:ext cx="457200" cy="713232"/>
          </a:xfrm>
          <a:prstGeom prst="rect">
            <a:avLst/>
          </a:prstGeom>
          <a:solidFill>
            <a:srgbClr val="04795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274320" y="144475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804672" y="133502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804672" y="1627632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· Solution · Value proposition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700016" y="1280160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700016" y="1280160"/>
            <a:ext cx="457200" cy="713232"/>
          </a:xfrm>
          <a:prstGeom prst="rect">
            <a:avLst/>
          </a:prstGeom>
          <a:solidFill>
            <a:srgbClr val="336EA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4700016" y="144475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230368" y="133502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5230368" y="1627632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→ data.xlsx → Dubizzle · Accuracy improvement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274320" y="2084832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274320" y="2084832"/>
            <a:ext cx="457200" cy="713232"/>
          </a:xfrm>
          <a:prstGeom prst="rect">
            <a:avLst/>
          </a:prstGeom>
          <a:solidFill>
            <a:srgbClr val="0FAB7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274320" y="224942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804672" y="213969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04672" y="243230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aiohttp scraping · 107K URLs → 74K records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700016" y="2084832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700016" y="2084832"/>
            <a:ext cx="457200" cy="713232"/>
          </a:xfrm>
          <a:prstGeom prst="rect">
            <a:avLst/>
          </a:prstGeom>
          <a:solidFill>
            <a:srgbClr val="D7B119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4700016" y="224942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5230368" y="213969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 &amp; EDA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230368" y="243230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· Location fix · New variables · Correlations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274320" y="2889504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274320" y="2889504"/>
            <a:ext cx="457200" cy="713232"/>
          </a:xfrm>
          <a:prstGeom prst="rect">
            <a:avLst/>
          </a:prstGeom>
          <a:solidFill>
            <a:srgbClr val="4B5563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274320" y="305409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804672" y="2944368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&amp; Results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804672" y="323697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RF+GB · R²=0.758 · MAPE=27.87%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4700016" y="2889504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1"/>
          <p:cNvSpPr/>
          <p:nvPr/>
        </p:nvSpPr>
        <p:spPr>
          <a:xfrm>
            <a:off x="4700016" y="2889504"/>
            <a:ext cx="4572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4700016" y="305409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5230368" y="2944368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5230368" y="323697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Predicted · Feature Importances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274320" y="3694176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6"/>
          <p:cNvSpPr/>
          <p:nvPr/>
        </p:nvSpPr>
        <p:spPr>
          <a:xfrm>
            <a:off x="274320" y="3694176"/>
            <a:ext cx="457200" cy="713232"/>
          </a:xfrm>
          <a:prstGeom prst="rect">
            <a:avLst/>
          </a:prstGeom>
          <a:solidFill>
            <a:srgbClr val="04795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274320" y="38587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804672" y="374904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804672" y="4041648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Streamlit Cloud · Tech Stack · GitHub</a:t>
            </a:r>
            <a:endParaRPr lang="en-US" sz="900" dirty="0"/>
          </a:p>
        </p:txBody>
      </p:sp>
      <p:sp>
        <p:nvSpPr>
          <p:cNvPr id="45" name="Shape 40"/>
          <p:cNvSpPr/>
          <p:nvPr/>
        </p:nvSpPr>
        <p:spPr>
          <a:xfrm>
            <a:off x="4700016" y="3694176"/>
            <a:ext cx="4224528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1"/>
          <p:cNvSpPr/>
          <p:nvPr/>
        </p:nvSpPr>
        <p:spPr>
          <a:xfrm>
            <a:off x="4700016" y="3694176"/>
            <a:ext cx="457200" cy="713232"/>
          </a:xfrm>
          <a:prstGeom prst="rect">
            <a:avLst/>
          </a:prstGeom>
          <a:solidFill>
            <a:srgbClr val="336EA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/>
          <p:nvPr/>
        </p:nvSpPr>
        <p:spPr>
          <a:xfrm>
            <a:off x="4700016" y="38587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8" name="Text 43"/>
          <p:cNvSpPr/>
          <p:nvPr/>
        </p:nvSpPr>
        <p:spPr>
          <a:xfrm>
            <a:off x="5230368" y="374904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Deliverables</a:t>
            </a:r>
            <a:endParaRPr lang="en-US" sz="1100" dirty="0"/>
          </a:p>
        </p:txBody>
      </p:sp>
      <p:sp>
        <p:nvSpPr>
          <p:cNvPr id="49" name="Text 44"/>
          <p:cNvSpPr/>
          <p:nvPr/>
        </p:nvSpPr>
        <p:spPr>
          <a:xfrm>
            <a:off x="5230368" y="4041648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Future work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· Solution · Unique Value Proposition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274320" y="1298448"/>
            <a:ext cx="2706624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274320" y="1298448"/>
            <a:ext cx="2706624" cy="292608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365760" y="1335024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Problem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365760" y="1645920"/>
            <a:ext cx="2542032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pricing in Egypt is opaque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lack data-driven benchmarks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appraisals are slow &amp; costly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publicly reliable estimation tool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3108960" y="1298448"/>
            <a:ext cx="2706624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108960" y="1298448"/>
            <a:ext cx="2706624" cy="292608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3200400" y="1335024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Solution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3200400" y="1645920"/>
            <a:ext cx="2542032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74,240 scraped Dubizzle listings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stratified ML models (one per type)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area, bedrooms, location, ownership, payment, completion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 — live predictions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5943600" y="1298448"/>
            <a:ext cx="2926080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5943600" y="1298448"/>
            <a:ext cx="2926080" cy="292608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035040" y="1335024"/>
            <a:ext cx="2761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Unique Value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035040" y="1645920"/>
            <a:ext cx="2761488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Egypt-specific scraped data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Dubizzle live — refreshable monthly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City+District granularity (1,473 areas)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Ownership+Completion+Payment features</a:t>
            </a:r>
            <a:endParaRPr lang="en-US" sz="1600" dirty="0"/>
          </a:p>
          <a:p>
            <a:pPr>
              <a:buSzPct val="100000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on GitHub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→ data.xlsx (first scrape) → Dubizzle Final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Dataset Evolution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data.xlsx = team's first own scraping attempt (same schema as Kaggle; no Ownership/Payment/Completion yet)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35024"/>
          <a:ext cx="8595360" cy="10058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Origin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Features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PropertyFinder.eg (public)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0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0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data.xlsx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Team's first Dubizzle scrape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yet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Dubizzle Final 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scrape + new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74,240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5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5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Own+Pay+Compl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274320" y="281635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data.xlsx EDA charts — confirming missing features drove the improved scraping schema: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3090672"/>
            <a:ext cx="3588649" cy="11887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74320" y="433425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D1 — data.xlsx price distribution (no Ownership/Payment/Completion)</a:t>
            </a:r>
            <a:endParaRPr lang="en-US" sz="8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3090672"/>
            <a:ext cx="2890825" cy="118872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480560" y="4334256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D2 — Feature coverage gap between data.xlsx and Dubizzle Final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Improvement Across All Three Versions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11 — R², MAPE, MAE: Kaggle → data.xlsx → Dubizzle Final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353312"/>
            <a:ext cx="8412480" cy="29857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11 — MAPE halved (57% → 27.87%) and R² improved 54% from Kaggle baseline to final Dubizzle scrape.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aiohttp Scraping · No Browser Required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Scraping Pipeline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aiohttp async · 40 concurrent workers · Auto-resume · Batch Excel save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274320" y="1298448"/>
            <a:ext cx="41148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274320" y="1298448"/>
            <a:ext cx="4114800" cy="329184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365760" y="1325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URL Collection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365760" y="1682496"/>
            <a:ext cx="393192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category + city listing pages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all 24 listing URLs per page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Paginate: ?page=N until end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URL + city + type label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URLs.xlsx — 107,276 URLs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65760" y="3035808"/>
            <a:ext cx="3931920" cy="162763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457200" y="3054096"/>
            <a:ext cx="374904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Stage 1 (URL collector)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category in CATEGORIES: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city in CITIES: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urls = get_links(page_url)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save_to_xlsx(urls)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4407408" y="2926080"/>
            <a:ext cx="32918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4754880" y="1298448"/>
            <a:ext cx="41148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4754880" y="1298448"/>
            <a:ext cx="4114800" cy="329184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4846320" y="1325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dubizzle_scraper.py (aiohttp)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846320" y="1682496"/>
            <a:ext cx="393192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URLs.xlsx (107,276 URLs)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async workers — no browser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Auto-resume via .checkpoint.csv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Excel save every 1,000 rows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on HTTP 429/403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OK / 404 / 502 / TIMEOUT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846320" y="3035808"/>
            <a:ext cx="3931920" cy="162763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4937760" y="3054096"/>
            <a:ext cx="374904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dubizzle_scraper.py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dubizzle_scraper.py --limit 500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dubizzle_scraper.py --workers 20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dubizzle_scraper.py --resume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 Results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107,276 URLs · 99.3% success rate · 74,240 final clean records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274320" y="1298448"/>
            <a:ext cx="1993392" cy="100584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274320" y="1316736"/>
            <a:ext cx="199339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107,276</a:t>
            </a:r>
            <a:endParaRPr lang="en-US" sz="2600" dirty="0"/>
          </a:p>
        </p:txBody>
      </p:sp>
      <p:sp>
        <p:nvSpPr>
          <p:cNvPr id="13" name="Text 8"/>
          <p:cNvSpPr/>
          <p:nvPr/>
        </p:nvSpPr>
        <p:spPr>
          <a:xfrm>
            <a:off x="274320" y="1920240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Collected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2450592" y="1298448"/>
            <a:ext cx="1993392" cy="1005840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2450592" y="1316736"/>
            <a:ext cx="199339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106,532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2450592" y="1920240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OK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(99.3%)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626864" y="1298448"/>
            <a:ext cx="1993392" cy="100584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4626864" y="1316736"/>
            <a:ext cx="199339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74,240</a:t>
            </a:r>
            <a:endParaRPr lang="en-US" sz="2600" dirty="0"/>
          </a:p>
        </p:txBody>
      </p:sp>
      <p:sp>
        <p:nvSpPr>
          <p:cNvPr id="19" name="Text 14"/>
          <p:cNvSpPr/>
          <p:nvPr/>
        </p:nvSpPr>
        <p:spPr>
          <a:xfrm>
            <a:off x="4626864" y="1920240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Records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(final)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803136" y="1298448"/>
            <a:ext cx="1993392" cy="100584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6803136" y="1316736"/>
            <a:ext cx="199339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1,473</a:t>
            </a:r>
            <a:endParaRPr lang="en-US" sz="2600" dirty="0"/>
          </a:p>
        </p:txBody>
      </p:sp>
      <p:sp>
        <p:nvSpPr>
          <p:cNvPr id="22" name="Text 17"/>
          <p:cNvSpPr/>
          <p:nvPr/>
        </p:nvSpPr>
        <p:spPr>
          <a:xfrm>
            <a:off x="6803136" y="1920240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City+District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Combinations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450592"/>
          <a:ext cx="8595360" cy="16535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data.xlsx had it?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 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→ 8 normalized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Stratified (own model)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+ 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0.5M–110M EGP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log(price_m) target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+ District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1,473 combinations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encoded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(Region only)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/ Resale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 / 0.5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Option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/ Installment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 / 0.5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 / Off-plan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 / 0.5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 &amp; EDA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· New Feature Impact · Correlations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Price Distribution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74,240 listings · Median 9.5M EGP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353312"/>
            <a:ext cx="8412480" cy="278658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— Right-skewed (skewness 2.63). Studios and Apartments are most affordable; Villas command the highest prices.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New Features Impact on Price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Ready + Cash = highest prices across all comparisons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353312"/>
            <a:ext cx="8412480" cy="280921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— These three features (Ownership, Completion, Payment) were absent in data.xlsx and Kaggle datasets.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Feature Correlations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City+District and Area are the two strongest predictors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5963" y="1353312"/>
            <a:ext cx="3712075" cy="32918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 — City+District (r≈0.42) dominates. Ownership, Payment, Completion add independent signal not in prior datasets.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&amp; ML Models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RF + GB · Features · Results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Results — Stratified Models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R²=0.7576  MAE=3.532M EGP  MAPE=27.87%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16736"/>
          <a:ext cx="8595360" cy="2011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43,399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 House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24.1% 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House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23.2% 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Duplex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74,240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5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5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8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5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274320" y="3913632"/>
            <a:ext cx="1993392" cy="768096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/>
          <p:nvPr/>
        </p:nvSpPr>
        <p:spPr>
          <a:xfrm>
            <a:off x="274320" y="3931920"/>
            <a:ext cx="19933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3.532M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274320" y="4361688"/>
            <a:ext cx="19933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MAE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2450592" y="3913632"/>
            <a:ext cx="1993392" cy="768096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2450592" y="3931920"/>
            <a:ext cx="19933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0.7576</a:t>
            </a:r>
            <a:endParaRPr lang="en-US" sz="2200" dirty="0"/>
          </a:p>
        </p:txBody>
      </p:sp>
      <p:sp>
        <p:nvSpPr>
          <p:cNvPr id="11" name="Text 11"/>
          <p:cNvSpPr/>
          <p:nvPr/>
        </p:nvSpPr>
        <p:spPr>
          <a:xfrm>
            <a:off x="2450592" y="4361688"/>
            <a:ext cx="19933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R²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626864" y="3913632"/>
            <a:ext cx="1993392" cy="768096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4626864" y="3931920"/>
            <a:ext cx="19933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27.87%</a:t>
            </a:r>
            <a:endParaRPr lang="en-US" sz="2200" dirty="0"/>
          </a:p>
        </p:txBody>
      </p:sp>
      <p:sp>
        <p:nvSpPr>
          <p:cNvPr id="20" name="Text 14"/>
          <p:cNvSpPr/>
          <p:nvPr/>
        </p:nvSpPr>
        <p:spPr>
          <a:xfrm>
            <a:off x="4626864" y="4361688"/>
            <a:ext cx="19933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MAPE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6803136" y="3913632"/>
            <a:ext cx="1993392" cy="768096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6803136" y="3931920"/>
            <a:ext cx="19933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99.3%</a:t>
            </a:r>
            <a:endParaRPr lang="en-US" sz="2200" dirty="0"/>
          </a:p>
        </p:txBody>
      </p:sp>
      <p:sp>
        <p:nvSpPr>
          <p:cNvPr id="23" name="Text 17"/>
          <p:cNvSpPr/>
          <p:nvPr/>
        </p:nvSpPr>
        <p:spPr>
          <a:xfrm>
            <a:off x="6803136" y="4361688"/>
            <a:ext cx="19933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Success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per Property Type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 — MAPE, R², and record count per type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353312"/>
            <a:ext cx="8412480" cy="232111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 — Town House (24.1%) and Twin House (23.2%) have the best MAPE.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864608"/>
            <a:ext cx="1188720" cy="2788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vs. Predicted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9 — All 8 property types on 20% held-out test set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20" y="1353312"/>
            <a:ext cx="7391159" cy="32918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9 — Tighter clustering around the diagonal = better predictions.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10 — City+District dominates all four top property types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353312"/>
            <a:ext cx="8412480" cy="208690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760" y="462686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10 — City+District is consistently the most important feature, confirming location as the primary price driver.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Streamlit Community Cloud · GitHub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Local &amp; Streamlit Community Cloud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— Live Application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274320" y="1298448"/>
            <a:ext cx="2743200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274320" y="1298448"/>
            <a:ext cx="2743200" cy="292608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365760" y="133502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Local Setup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365760" y="1645920"/>
            <a:ext cx="2578608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-r requirements.txt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train.py  →  model_final.pkl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at http://localhost:8501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Cascading: Governorate → City → District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Per-type model accuracy shown live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200400" y="1298448"/>
            <a:ext cx="2743200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3200400" y="1298448"/>
            <a:ext cx="2743200" cy="292608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3291840" y="133502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Streamlit Cloud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3291840" y="1645920"/>
            <a:ext cx="2578608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code to GitHub (excl. model_final.pkl)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share.streamlit.io → New app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repo · branch: main · file: app.py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→ app.streamlit.app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Settings → Files → upload model_final.pkl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at: your-app.streamlit.app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26480" y="1298448"/>
            <a:ext cx="2743200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126480" y="1298448"/>
            <a:ext cx="2743200" cy="292608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6217920" y="133502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 GitHub Files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217920" y="1645920"/>
            <a:ext cx="2578608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 ·  train.py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dubizzle_scraper.py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Egypt_RE_Appraiser_Final.ipynb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requirements_scraper.txt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  ·  .gitignore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— Screenshots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365760" y="1069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2057400" y="25328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📸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457200" y="289864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1: Main Interface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457200" y="32461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type selector + cascading location dropdowns + detail inputs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37960" y="25328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📸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4937760" y="289864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2: Prediction Result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4937760" y="32461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price + property summary table + model accuracy info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274320" y="4663440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4B418F8-70CC-446D-6293-04F80BD2D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87" y="1325880"/>
            <a:ext cx="4605359" cy="3360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576ACA3-DDE5-EE38-6085-962EAFCE9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6712" y="1389888"/>
            <a:ext cx="4198698" cy="3273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47488"/>
            <a:ext cx="9144000" cy="9601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9728"/>
            <a:ext cx="676656" cy="42062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1440"/>
            <a:ext cx="150876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D7B119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123444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 &amp; Deliverables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234440" y="226771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54864"/>
            <a:ext cx="621792" cy="3840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6576"/>
            <a:ext cx="1417320" cy="4754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548640"/>
            <a:ext cx="9144000" cy="2286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64592" y="488289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823960" y="4882896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365760" y="6126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 &amp; Deliverables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274320" y="1298448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274320" y="1298448"/>
            <a:ext cx="4224528" cy="329184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365760" y="1353312"/>
            <a:ext cx="4041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— Data Engineer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365760" y="1700784"/>
            <a:ext cx="4041648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Stage 1 URL collector (107K URLs)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Stage 2 aiohttp scraper (99.3% success)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scraping infra &amp; anti-detection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dataset validation &amp; QA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00016" y="1298448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700016" y="1298448"/>
            <a:ext cx="4224528" cy="329184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4791456" y="1353312"/>
            <a:ext cx="4041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— Data Analyst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791456" y="1700784"/>
            <a:ext cx="4041648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+ district fix logic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11 analytical figures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encoding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Log-transform &amp; outlier analysis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274320" y="3108960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274320" y="3108960"/>
            <a:ext cx="4224528" cy="329184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365760" y="3163824"/>
            <a:ext cx="4041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— ML Engineer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365760" y="3511296"/>
            <a:ext cx="4041648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model training (RF + GB)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selection &amp; CV evaluation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development &amp; cloud deploy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model_final.pkl bundle creation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700016" y="3108960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00016" y="3108960"/>
            <a:ext cx="4224528" cy="329184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4791456" y="3163824"/>
            <a:ext cx="4041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 — Documentation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791456" y="3511296"/>
            <a:ext cx="4041648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9-section project documentation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presentation design (28 slides)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README &amp; project setup guide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proposal write-up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914400" y="-914400"/>
            <a:ext cx="2926080" cy="2926080"/>
          </a:xfrm>
          <a:prstGeom prst="ellipse">
            <a:avLst/>
          </a:prstGeom>
          <a:solidFill>
            <a:srgbClr val="047954">
              <a:alpha val="18000"/>
            </a:srgbClr>
          </a:solidFill>
          <a:ln w="12700">
            <a:solidFill>
              <a:srgbClr val="04795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0" y="3200400"/>
            <a:ext cx="2194560" cy="2194560"/>
          </a:xfrm>
          <a:prstGeom prst="ellipse">
            <a:avLst/>
          </a:prstGeom>
          <a:solidFill>
            <a:srgbClr val="336EA8">
              <a:alpha val="22000"/>
            </a:srgbClr>
          </a:solidFill>
          <a:ln w="12700">
            <a:solidFill>
              <a:srgbClr val="336EA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09728"/>
            <a:ext cx="768096" cy="47548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91440"/>
            <a:ext cx="153619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0" y="804672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🏠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14400" y="1609344"/>
            <a:ext cx="73152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1371600" y="2450592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 Real Estate Appraiser  ·  Dubizzle Scrape  ·  DEPI 2026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828800" y="28346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A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Feedback Welcome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005840" y="3364992"/>
            <a:ext cx="1609344" cy="914400"/>
          </a:xfrm>
          <a:prstGeom prst="rect">
            <a:avLst/>
          </a:prstGeom>
          <a:solidFill>
            <a:srgbClr val="047954">
              <a:alpha val="82000"/>
            </a:srgbClr>
          </a:solidFill>
          <a:ln w="12700">
            <a:solidFill>
              <a:srgbClr val="04795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1005840" y="3383280"/>
            <a:ext cx="16093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1005840" y="3858768"/>
            <a:ext cx="16093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Scraped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2834640" y="3364992"/>
            <a:ext cx="1609344" cy="914400"/>
          </a:xfrm>
          <a:prstGeom prst="rect">
            <a:avLst/>
          </a:prstGeom>
          <a:solidFill>
            <a:srgbClr val="336EA8">
              <a:alpha val="82000"/>
            </a:srgbClr>
          </a:solidFill>
          <a:ln w="12700">
            <a:solidFill>
              <a:srgbClr val="336EA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2834640" y="3383280"/>
            <a:ext cx="16093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0.758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834640" y="3858768"/>
            <a:ext cx="16093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663440" y="3364992"/>
            <a:ext cx="1609344" cy="914400"/>
          </a:xfrm>
          <a:prstGeom prst="rect">
            <a:avLst/>
          </a:prstGeom>
          <a:solidFill>
            <a:srgbClr val="0FAB7D">
              <a:alpha val="82000"/>
            </a:srgbClr>
          </a:solidFill>
          <a:ln w="12700">
            <a:solidFill>
              <a:srgbClr val="0FAB7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4663440" y="3383280"/>
            <a:ext cx="16093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27.9%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4663440" y="3858768"/>
            <a:ext cx="16093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492240" y="3364992"/>
            <a:ext cx="1609344" cy="914400"/>
          </a:xfrm>
          <a:prstGeom prst="rect">
            <a:avLst/>
          </a:prstGeom>
          <a:solidFill>
            <a:srgbClr val="D7B119">
              <a:alpha val="82000"/>
            </a:srgbClr>
          </a:solidFill>
          <a:ln w="12700">
            <a:solidFill>
              <a:srgbClr val="D7B119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6492240" y="3383280"/>
            <a:ext cx="16093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6492240" y="3858768"/>
            <a:ext cx="16093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371600" y="440740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</a:t>
            </a:r>
            <a:r>
              <a:rPr lang="en-US" sz="950" dirty="0" err="1" smtClean="0">
                <a:solidFill>
                  <a:srgbClr val="6B8FA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github</a:t>
            </a:r>
            <a:r>
              <a:rPr lang="en-US" sz="950" dirty="0" smtClean="0">
                <a:solidFill>
                  <a:srgbClr val="6B8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50" dirty="0">
                <a:solidFill>
                  <a:srgbClr val="6B8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🌐 </a:t>
            </a:r>
            <a:r>
              <a:rPr lang="en-US" sz="950" dirty="0" err="1" smtClean="0">
                <a:solidFill>
                  <a:srgbClr val="6B8FA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streamlit</a:t>
            </a:r>
            <a:r>
              <a:rPr lang="en-US" sz="950" dirty="0" smtClean="0">
                <a:solidFill>
                  <a:srgbClr val="6B8FA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 app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274320" y="4882896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 ·  Digital Egypt Pioneers  ·  Data Science Track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1342</Words>
  <Application>Microsoft Office PowerPoint</Application>
  <PresentationFormat>On-screen Show (16:9)</PresentationFormat>
  <Paragraphs>379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Windows User</cp:lastModifiedBy>
  <cp:revision>6</cp:revision>
  <dcterms:created xsi:type="dcterms:W3CDTF">2026-05-19T09:32:53Z</dcterms:created>
  <dcterms:modified xsi:type="dcterms:W3CDTF">2026-05-21T21:52:45Z</dcterms:modified>
</cp:coreProperties>
</file>