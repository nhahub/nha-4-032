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e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jpe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e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jpe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jpe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jpe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jpe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jpe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jpe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jpe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jpe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jpe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47472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474720" y="0"/>
            <a:ext cx="566928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3474720" cy="128016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6032" y="219456"/>
            <a:ext cx="877824" cy="54864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828800" cy="62179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1005840"/>
            <a:ext cx="21945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800" dirty="0">
                <a:solidFill>
                  <a:srgbClr val="000000"/>
                </a:solidFill>
              </a:rPr>
              <a:t>🏠</a:t>
            </a:r>
            <a:endParaRPr lang="en-US" sz="5800" dirty="0"/>
          </a:p>
        </p:txBody>
      </p:sp>
      <p:sp>
        <p:nvSpPr>
          <p:cNvPr id="9" name="Text 5"/>
          <p:cNvSpPr/>
          <p:nvPr/>
        </p:nvSpPr>
        <p:spPr>
          <a:xfrm>
            <a:off x="256032" y="1956816"/>
            <a:ext cx="296265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spc="700" kern="0" dirty="0">
                <a:solidFill>
                  <a:srgbClr val="C8EF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256032" y="2231136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D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Egypt Pioneers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256032" y="2450592"/>
            <a:ext cx="2962656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D7B1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Track</a:t>
            </a:r>
            <a:endParaRPr lang="en-US" sz="90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128" y="4407408"/>
            <a:ext cx="1426464" cy="402336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749040" y="822960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479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Real Estate</a:t>
            </a:r>
            <a:endParaRPr lang="en-US" sz="3200" dirty="0"/>
          </a:p>
        </p:txBody>
      </p:sp>
      <p:sp>
        <p:nvSpPr>
          <p:cNvPr id="14" name="Text 9"/>
          <p:cNvSpPr/>
          <p:nvPr/>
        </p:nvSpPr>
        <p:spPr>
          <a:xfrm>
            <a:off x="3749040" y="1399032"/>
            <a:ext cx="52120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36E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Appraiser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3749040" y="206654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ML-Based Property Price Prediction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3749040" y="23591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Dubizzle Scrape  |  74,240 Records</a:t>
            </a:r>
            <a:endParaRPr lang="en-US" sz="1100" dirty="0"/>
          </a:p>
        </p:txBody>
      </p:sp>
      <p:sp>
        <p:nvSpPr>
          <p:cNvPr id="17" name="Shape 12"/>
          <p:cNvSpPr/>
          <p:nvPr/>
        </p:nvSpPr>
        <p:spPr>
          <a:xfrm>
            <a:off x="3749040" y="2688336"/>
            <a:ext cx="5212080" cy="36576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3749040" y="2798064"/>
            <a:ext cx="52120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Team: </a:t>
            </a:r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 ·  Member 2  ·  Member 3  ·  Member 4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3749040" y="3255264"/>
            <a:ext cx="1216152" cy="65836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Text 15"/>
          <p:cNvSpPr/>
          <p:nvPr/>
        </p:nvSpPr>
        <p:spPr>
          <a:xfrm>
            <a:off x="3749040" y="3273552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0.76</a:t>
            </a:r>
            <a:endParaRPr lang="en-US" sz="1800" dirty="0"/>
          </a:p>
        </p:txBody>
      </p:sp>
      <p:sp>
        <p:nvSpPr>
          <p:cNvPr id="21" name="Text 16"/>
          <p:cNvSpPr/>
          <p:nvPr/>
        </p:nvSpPr>
        <p:spPr>
          <a:xfrm>
            <a:off x="3749040" y="363016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850" dirty="0"/>
          </a:p>
        </p:txBody>
      </p:sp>
      <p:sp>
        <p:nvSpPr>
          <p:cNvPr id="22" name="Shape 17"/>
          <p:cNvSpPr/>
          <p:nvPr/>
        </p:nvSpPr>
        <p:spPr>
          <a:xfrm>
            <a:off x="5056632" y="3255264"/>
            <a:ext cx="1216152" cy="65836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5056632" y="3273552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3.53M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5056632" y="363016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(EGP)</a:t>
            </a:r>
            <a:endParaRPr lang="en-US" sz="850" dirty="0"/>
          </a:p>
        </p:txBody>
      </p:sp>
      <p:sp>
        <p:nvSpPr>
          <p:cNvPr id="25" name="Shape 20"/>
          <p:cNvSpPr/>
          <p:nvPr/>
        </p:nvSpPr>
        <p:spPr>
          <a:xfrm>
            <a:off x="6364224" y="3255264"/>
            <a:ext cx="1216152" cy="658368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Text 21"/>
          <p:cNvSpPr/>
          <p:nvPr/>
        </p:nvSpPr>
        <p:spPr>
          <a:xfrm>
            <a:off x="6364224" y="3273552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27.87%</a:t>
            </a:r>
            <a:endParaRPr lang="en-US" sz="1800" dirty="0"/>
          </a:p>
        </p:txBody>
      </p:sp>
      <p:sp>
        <p:nvSpPr>
          <p:cNvPr id="27" name="Text 22"/>
          <p:cNvSpPr/>
          <p:nvPr/>
        </p:nvSpPr>
        <p:spPr>
          <a:xfrm>
            <a:off x="6364224" y="363016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850" dirty="0"/>
          </a:p>
        </p:txBody>
      </p:sp>
      <p:sp>
        <p:nvSpPr>
          <p:cNvPr id="28" name="Shape 23"/>
          <p:cNvSpPr/>
          <p:nvPr/>
        </p:nvSpPr>
        <p:spPr>
          <a:xfrm>
            <a:off x="7671816" y="3255264"/>
            <a:ext cx="1216152" cy="658368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Text 24"/>
          <p:cNvSpPr/>
          <p:nvPr/>
        </p:nvSpPr>
        <p:spPr>
          <a:xfrm>
            <a:off x="7671816" y="3273552"/>
            <a:ext cx="12161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0" name="Text 25"/>
          <p:cNvSpPr/>
          <p:nvPr/>
        </p:nvSpPr>
        <p:spPr>
          <a:xfrm>
            <a:off x="7671816" y="3630168"/>
            <a:ext cx="121615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Models</a:t>
            </a:r>
            <a:endParaRPr lang="en-US" sz="850" dirty="0"/>
          </a:p>
        </p:txBody>
      </p:sp>
      <p:sp>
        <p:nvSpPr>
          <p:cNvPr id="31" name="Text 26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Final Project  ·  May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274320" y="1280160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4320" y="1280160"/>
            <a:ext cx="457200" cy="713232"/>
          </a:xfrm>
          <a:prstGeom prst="rect">
            <a:avLst/>
          </a:prstGeom>
          <a:solidFill>
            <a:srgbClr val="04795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274320" y="14447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13" name="Text 8"/>
          <p:cNvSpPr/>
          <p:nvPr/>
        </p:nvSpPr>
        <p:spPr>
          <a:xfrm>
            <a:off x="804672" y="13350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1100" dirty="0"/>
          </a:p>
        </p:txBody>
      </p:sp>
      <p:sp>
        <p:nvSpPr>
          <p:cNvPr id="14" name="Text 9"/>
          <p:cNvSpPr/>
          <p:nvPr/>
        </p:nvSpPr>
        <p:spPr>
          <a:xfrm>
            <a:off x="804672" y="16276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Solution · Value proposition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00016" y="1280160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4700016" y="1280160"/>
            <a:ext cx="457200" cy="713232"/>
          </a:xfrm>
          <a:prstGeom prst="rect">
            <a:avLst/>
          </a:prstGeom>
          <a:solidFill>
            <a:srgbClr val="336E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4700016" y="1444752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5230368" y="13350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230368" y="1627632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→ data.xlsx → Dubizzle · Accuracy improvement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274320" y="2084832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74320" y="2084832"/>
            <a:ext cx="457200" cy="713232"/>
          </a:xfrm>
          <a:prstGeom prst="rect">
            <a:avLst/>
          </a:prstGeom>
          <a:solidFill>
            <a:srgbClr val="0FAB7D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74320" y="22494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804672" y="213969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804672" y="243230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aiohttp scraping · 107K URLs → 74K records</a:t>
            </a:r>
            <a:endParaRPr lang="en-US" sz="900" dirty="0"/>
          </a:p>
        </p:txBody>
      </p:sp>
      <p:sp>
        <p:nvSpPr>
          <p:cNvPr id="25" name="Shape 20"/>
          <p:cNvSpPr/>
          <p:nvPr/>
        </p:nvSpPr>
        <p:spPr>
          <a:xfrm>
            <a:off x="4700016" y="2084832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4700016" y="2084832"/>
            <a:ext cx="457200" cy="713232"/>
          </a:xfrm>
          <a:prstGeom prst="rect">
            <a:avLst/>
          </a:prstGeom>
          <a:solidFill>
            <a:srgbClr val="D7B119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700016" y="2249424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5230368" y="213969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&amp; EDA</a:t>
            </a:r>
            <a:endParaRPr lang="en-US" sz="1100" dirty="0"/>
          </a:p>
        </p:txBody>
      </p:sp>
      <p:sp>
        <p:nvSpPr>
          <p:cNvPr id="29" name="Text 24"/>
          <p:cNvSpPr/>
          <p:nvPr/>
        </p:nvSpPr>
        <p:spPr>
          <a:xfrm>
            <a:off x="5230368" y="243230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Location fix · New variables · Correlations</a:t>
            </a:r>
            <a:endParaRPr lang="en-US" sz="900" dirty="0"/>
          </a:p>
        </p:txBody>
      </p:sp>
      <p:sp>
        <p:nvSpPr>
          <p:cNvPr id="30" name="Shape 25"/>
          <p:cNvSpPr/>
          <p:nvPr/>
        </p:nvSpPr>
        <p:spPr>
          <a:xfrm>
            <a:off x="274320" y="2889504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6"/>
          <p:cNvSpPr/>
          <p:nvPr/>
        </p:nvSpPr>
        <p:spPr>
          <a:xfrm>
            <a:off x="274320" y="2889504"/>
            <a:ext cx="457200" cy="713232"/>
          </a:xfrm>
          <a:prstGeom prst="rect">
            <a:avLst/>
          </a:prstGeom>
          <a:solidFill>
            <a:srgbClr val="4B5563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2" name="Text 27"/>
          <p:cNvSpPr/>
          <p:nvPr/>
        </p:nvSpPr>
        <p:spPr>
          <a:xfrm>
            <a:off x="274320" y="30540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33" name="Text 28"/>
          <p:cNvSpPr/>
          <p:nvPr/>
        </p:nvSpPr>
        <p:spPr>
          <a:xfrm>
            <a:off x="804672" y="294436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 &amp; Results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804672" y="323697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RF+GB · R²=0.758 · MAPE=27.87%</a:t>
            </a:r>
            <a:endParaRPr lang="en-US" sz="900" dirty="0"/>
          </a:p>
        </p:txBody>
      </p:sp>
      <p:sp>
        <p:nvSpPr>
          <p:cNvPr id="35" name="Shape 30"/>
          <p:cNvSpPr/>
          <p:nvPr/>
        </p:nvSpPr>
        <p:spPr>
          <a:xfrm>
            <a:off x="4700016" y="2889504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4700016" y="2889504"/>
            <a:ext cx="457200" cy="713232"/>
          </a:xfrm>
          <a:prstGeom prst="rect">
            <a:avLst/>
          </a:prstGeom>
          <a:solidFill>
            <a:srgbClr val="1E3A5F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4700016" y="3054096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8" name="Text 33"/>
          <p:cNvSpPr/>
          <p:nvPr/>
        </p:nvSpPr>
        <p:spPr>
          <a:xfrm>
            <a:off x="5230368" y="294436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</p:txBody>
      </p:sp>
      <p:sp>
        <p:nvSpPr>
          <p:cNvPr id="39" name="Text 34"/>
          <p:cNvSpPr/>
          <p:nvPr/>
        </p:nvSpPr>
        <p:spPr>
          <a:xfrm>
            <a:off x="5230368" y="323697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 Predicted · Feature Importances</a:t>
            </a:r>
            <a:endParaRPr lang="en-US" sz="900" dirty="0"/>
          </a:p>
        </p:txBody>
      </p:sp>
      <p:sp>
        <p:nvSpPr>
          <p:cNvPr id="40" name="Shape 35"/>
          <p:cNvSpPr/>
          <p:nvPr/>
        </p:nvSpPr>
        <p:spPr>
          <a:xfrm>
            <a:off x="274320" y="3694176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6"/>
          <p:cNvSpPr/>
          <p:nvPr/>
        </p:nvSpPr>
        <p:spPr>
          <a:xfrm>
            <a:off x="274320" y="3694176"/>
            <a:ext cx="457200" cy="713232"/>
          </a:xfrm>
          <a:prstGeom prst="rect">
            <a:avLst/>
          </a:prstGeom>
          <a:solidFill>
            <a:srgbClr val="047954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2" name="Text 37"/>
          <p:cNvSpPr/>
          <p:nvPr/>
        </p:nvSpPr>
        <p:spPr>
          <a:xfrm>
            <a:off x="274320" y="3858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43" name="Text 38"/>
          <p:cNvSpPr/>
          <p:nvPr/>
        </p:nvSpPr>
        <p:spPr>
          <a:xfrm>
            <a:off x="804672" y="374904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00" dirty="0"/>
          </a:p>
        </p:txBody>
      </p:sp>
      <p:sp>
        <p:nvSpPr>
          <p:cNvPr id="44" name="Text 39"/>
          <p:cNvSpPr/>
          <p:nvPr/>
        </p:nvSpPr>
        <p:spPr>
          <a:xfrm>
            <a:off x="804672" y="404164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Streamlit Cloud · Tech Stack · GitHub</a:t>
            </a:r>
            <a:endParaRPr lang="en-US" sz="900" dirty="0"/>
          </a:p>
        </p:txBody>
      </p:sp>
      <p:sp>
        <p:nvSpPr>
          <p:cNvPr id="45" name="Shape 40"/>
          <p:cNvSpPr/>
          <p:nvPr/>
        </p:nvSpPr>
        <p:spPr>
          <a:xfrm>
            <a:off x="4700016" y="3694176"/>
            <a:ext cx="4224528" cy="713232"/>
          </a:xfrm>
          <a:prstGeom prst="rect">
            <a:avLst/>
          </a:prstGeom>
          <a:solidFill>
            <a:srgbClr val="F4F7FA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46" name="Shape 41"/>
          <p:cNvSpPr/>
          <p:nvPr/>
        </p:nvSpPr>
        <p:spPr>
          <a:xfrm>
            <a:off x="4700016" y="3694176"/>
            <a:ext cx="457200" cy="713232"/>
          </a:xfrm>
          <a:prstGeom prst="rect">
            <a:avLst/>
          </a:prstGeom>
          <a:solidFill>
            <a:srgbClr val="336EA8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4700016" y="3858768"/>
            <a:ext cx="4572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300" dirty="0"/>
          </a:p>
        </p:txBody>
      </p:sp>
      <p:sp>
        <p:nvSpPr>
          <p:cNvPr id="48" name="Text 43"/>
          <p:cNvSpPr/>
          <p:nvPr/>
        </p:nvSpPr>
        <p:spPr>
          <a:xfrm>
            <a:off x="5230368" y="3749040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&amp; Deliverables</a:t>
            </a:r>
            <a:endParaRPr lang="en-US" sz="1100" dirty="0"/>
          </a:p>
        </p:txBody>
      </p:sp>
      <p:sp>
        <p:nvSpPr>
          <p:cNvPr id="49" name="Text 44"/>
          <p:cNvSpPr/>
          <p:nvPr/>
        </p:nvSpPr>
        <p:spPr>
          <a:xfrm>
            <a:off x="5230368" y="4041648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Future work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676656" cy="4206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508760" cy="512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B11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123444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34440" y="22677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· Solution · Unique Value Proposition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0"/>
            <a:ext cx="11887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Idea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274320" y="1298448"/>
            <a:ext cx="2706624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4320" y="1298448"/>
            <a:ext cx="2706624" cy="29260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65760" y="13350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Problem</a:t>
            </a:r>
            <a:endParaRPr lang="en-US" sz="1000" dirty="0"/>
          </a:p>
        </p:txBody>
      </p:sp>
      <p:sp>
        <p:nvSpPr>
          <p:cNvPr id="13" name="Text 8"/>
          <p:cNvSpPr/>
          <p:nvPr/>
        </p:nvSpPr>
        <p:spPr>
          <a:xfrm>
            <a:off x="365760" y="1645920"/>
            <a:ext cx="2542032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pricing in Egypt is opaque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lack data-driven benchmarks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appraisals are slow &amp; costly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publicly reliable estimation tool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3108960" y="1298448"/>
            <a:ext cx="2706624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108960" y="1298448"/>
            <a:ext cx="2706624" cy="29260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3200400" y="1335024"/>
            <a:ext cx="25420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Solution</a:t>
            </a:r>
            <a:endParaRPr lang="en-US" sz="1000" dirty="0"/>
          </a:p>
        </p:txBody>
      </p:sp>
      <p:sp>
        <p:nvSpPr>
          <p:cNvPr id="17" name="Text 12"/>
          <p:cNvSpPr/>
          <p:nvPr/>
        </p:nvSpPr>
        <p:spPr>
          <a:xfrm>
            <a:off x="3200400" y="1645920"/>
            <a:ext cx="2542032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74,240 scraped Dubizzle listings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stratified ML models (one per type)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Inputs: area, bedrooms, location, ownership, payment, completion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web app — live predictions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5943600" y="1298448"/>
            <a:ext cx="292608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5943600" y="1298448"/>
            <a:ext cx="2926080" cy="292608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035040" y="1335024"/>
            <a:ext cx="27614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⭐ Unique Value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6035040" y="1645920"/>
            <a:ext cx="2761488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Egypt-specific scraped data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Dubizzle live — refreshable monthly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City+District granularity (1,473 areas)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Ownership+Completion+Payment features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on GitHub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676656" cy="4206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508760" cy="512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B11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123444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34440" y="22677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→ data.xlsx (first scrape) → Dubizzle Final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0"/>
            <a:ext cx="11887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Three-Stage Dataset Evolution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data.xlsx = team's first own scraping attempt (same schema as Kaggle; no Ownership/Payment/Completion yet)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35024"/>
          <a:ext cx="85953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03120"/>
                <a:gridCol w="1097280"/>
                <a:gridCol w="914400"/>
                <a:gridCol w="914400"/>
                <a:gridCol w="210312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Dataset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 / Origin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 Features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PropertyFinder.eg (public)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16,083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data.xlsx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Team's first Dubizzle scrape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81,076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3C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yet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Dubizzle Final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Improved scrape + new fields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74,240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Own+Pay+Compl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</a:tbl>
          </a:graphicData>
        </a:graphic>
      </p:graphicFrame>
      <p:sp>
        <p:nvSpPr>
          <p:cNvPr id="12" name="Text 6"/>
          <p:cNvSpPr/>
          <p:nvPr/>
        </p:nvSpPr>
        <p:spPr>
          <a:xfrm>
            <a:off x="274320" y="2816352"/>
            <a:ext cx="85953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data.xlsx EDA charts — confirming missing features drove the improved scraping schema:</a:t>
            </a:r>
            <a:endParaRPr lang="en-US" sz="10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" y="3090672"/>
            <a:ext cx="3588649" cy="11887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74320" y="4334256"/>
            <a:ext cx="40233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D1 — data.xlsx price distribution (no Ownership/Payment/Completion)</a:t>
            </a:r>
            <a:endParaRPr lang="en-US" sz="8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090672"/>
            <a:ext cx="2890825" cy="1188720"/>
          </a:xfrm>
          <a:prstGeom prst="rect">
            <a:avLst/>
          </a:prstGeom>
        </p:spPr>
      </p:pic>
      <p:sp>
        <p:nvSpPr>
          <p:cNvPr id="16" name="Text 8"/>
          <p:cNvSpPr/>
          <p:nvPr/>
        </p:nvSpPr>
        <p:spPr>
          <a:xfrm>
            <a:off x="4480560" y="4334256"/>
            <a:ext cx="4206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 D2 — Feature coverage gap between data.xlsx and Dubizzle Final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Improvement Across All Three Versions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11 — R², MAPE, MAE: Kaggle → data.xlsx → Dubizzle Final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53312"/>
            <a:ext cx="8412480" cy="298572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11 — MAPE halved (57% → 27.87%) and R² improved 54% from Kaggle baseline to final Dubizzle scrape.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676656" cy="4206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508760" cy="512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B11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123444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34440" y="22677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aiohttp Scraping · No Browser Required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0"/>
            <a:ext cx="11887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Two-Stage Scraping Pipeline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aiohttp async · 40 concurrent workers · Auto-resume · Batch Excel save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4320" y="1298448"/>
            <a:ext cx="41148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74320" y="1298448"/>
            <a:ext cx="4114800" cy="329184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65760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— URL Collection</a:t>
            </a:r>
            <a:endParaRPr lang="en-US" sz="1050" dirty="0"/>
          </a:p>
        </p:txBody>
      </p:sp>
      <p:sp>
        <p:nvSpPr>
          <p:cNvPr id="14" name="Text 9"/>
          <p:cNvSpPr/>
          <p:nvPr/>
        </p:nvSpPr>
        <p:spPr>
          <a:xfrm>
            <a:off x="365760" y="1682496"/>
            <a:ext cx="393192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 category + city listing pages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all 24 listing URLs per page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Paginate: ?page=N until end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URL + city + type label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URLs.xlsx — 107,276 URLs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65760" y="3035808"/>
            <a:ext cx="3931920" cy="16276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57200" y="3054096"/>
            <a:ext cx="374904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Stage 1 (URL collector)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category in CATEGORIES: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city in CITIES: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urls = get_links(page_url)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save_to_xlsx(urls)</a:t>
            </a:r>
            <a:endParaRPr lang="en-US" sz="850" dirty="0"/>
          </a:p>
        </p:txBody>
      </p:sp>
      <p:sp>
        <p:nvSpPr>
          <p:cNvPr id="17" name="Shape 12"/>
          <p:cNvSpPr/>
          <p:nvPr/>
        </p:nvSpPr>
        <p:spPr>
          <a:xfrm>
            <a:off x="4407408" y="2926080"/>
            <a:ext cx="329184" cy="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  <a:tailEnd type="triangle"/>
          </a:ln>
        </p:spPr>
      </p:sp>
      <p:sp>
        <p:nvSpPr>
          <p:cNvPr id="18" name="Shape 13"/>
          <p:cNvSpPr/>
          <p:nvPr/>
        </p:nvSpPr>
        <p:spPr>
          <a:xfrm>
            <a:off x="4754880" y="1298448"/>
            <a:ext cx="4114800" cy="34747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4754880" y="1298448"/>
            <a:ext cx="4114800" cy="329184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4846320" y="132588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2 — dubizzle_scraper.py (aiohttp)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4846320" y="1682496"/>
            <a:ext cx="3931920" cy="13167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URLs.xlsx (107,276 URLs)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 async workers — no browser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Auto-resume via .checkpoint.csv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Excel save every 1,000 rows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Backoff on HTTP 429/403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OK / 404 / 502 / TIMEOUT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846320" y="3035808"/>
            <a:ext cx="3931920" cy="1627632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4937760" y="3054096"/>
            <a:ext cx="3749040" cy="1591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dubizzle_scraper.py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dubizzle_scraper.py --limit 500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dubizzle_scraper.py --workers 20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6EE7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dubizzle_scraper.py --resume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Results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107,276 URLs · 99.3% success rate · 74,240 final clean records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4320" y="1298448"/>
            <a:ext cx="1993392" cy="100584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274320" y="1316736"/>
            <a:ext cx="19933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107,276</a:t>
            </a:r>
            <a:endParaRPr lang="en-US" sz="2600" dirty="0"/>
          </a:p>
        </p:txBody>
      </p:sp>
      <p:sp>
        <p:nvSpPr>
          <p:cNvPr id="13" name="Text 8"/>
          <p:cNvSpPr/>
          <p:nvPr/>
        </p:nvSpPr>
        <p:spPr>
          <a:xfrm>
            <a:off x="274320" y="192024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URLs Collected</a:t>
            </a:r>
            <a:endParaRPr lang="en-US" sz="900" dirty="0"/>
          </a:p>
        </p:txBody>
      </p:sp>
      <p:sp>
        <p:nvSpPr>
          <p:cNvPr id="14" name="Shape 9"/>
          <p:cNvSpPr/>
          <p:nvPr/>
        </p:nvSpPr>
        <p:spPr>
          <a:xfrm>
            <a:off x="2450592" y="1298448"/>
            <a:ext cx="1993392" cy="100584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2450592" y="1316736"/>
            <a:ext cx="19933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106,532</a:t>
            </a:r>
            <a:endParaRPr lang="en-US" sz="2600" dirty="0"/>
          </a:p>
        </p:txBody>
      </p:sp>
      <p:sp>
        <p:nvSpPr>
          <p:cNvPr id="16" name="Text 11"/>
          <p:cNvSpPr/>
          <p:nvPr/>
        </p:nvSpPr>
        <p:spPr>
          <a:xfrm>
            <a:off x="2450592" y="192024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OK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(99.3%)</a:t>
            </a:r>
            <a:endParaRPr lang="en-US" sz="900" dirty="0"/>
          </a:p>
        </p:txBody>
      </p:sp>
      <p:sp>
        <p:nvSpPr>
          <p:cNvPr id="17" name="Shape 12"/>
          <p:cNvSpPr/>
          <p:nvPr/>
        </p:nvSpPr>
        <p:spPr>
          <a:xfrm>
            <a:off x="4626864" y="1298448"/>
            <a:ext cx="1993392" cy="100584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4626864" y="1316736"/>
            <a:ext cx="19933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74,240</a:t>
            </a:r>
            <a:endParaRPr lang="en-US" sz="2600" dirty="0"/>
          </a:p>
        </p:txBody>
      </p:sp>
      <p:sp>
        <p:nvSpPr>
          <p:cNvPr id="19" name="Text 14"/>
          <p:cNvSpPr/>
          <p:nvPr/>
        </p:nvSpPr>
        <p:spPr>
          <a:xfrm>
            <a:off x="4626864" y="192024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Records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(final)</a:t>
            </a:r>
            <a:endParaRPr lang="en-US" sz="900" dirty="0"/>
          </a:p>
        </p:txBody>
      </p:sp>
      <p:sp>
        <p:nvSpPr>
          <p:cNvPr id="20" name="Shape 15"/>
          <p:cNvSpPr/>
          <p:nvPr/>
        </p:nvSpPr>
        <p:spPr>
          <a:xfrm>
            <a:off x="6803136" y="1298448"/>
            <a:ext cx="1993392" cy="100584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6803136" y="1316736"/>
            <a:ext cx="1993392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1,473</a:t>
            </a:r>
            <a:endParaRPr lang="en-US" sz="2600" dirty="0"/>
          </a:p>
        </p:txBody>
      </p:sp>
      <p:sp>
        <p:nvSpPr>
          <p:cNvPr id="22" name="Text 17"/>
          <p:cNvSpPr/>
          <p:nvPr/>
        </p:nvSpPr>
        <p:spPr>
          <a:xfrm>
            <a:off x="6803136" y="1920240"/>
            <a:ext cx="1993392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City+District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Combinations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2450592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920240"/>
                <a:gridCol w="1920240"/>
                <a:gridCol w="29260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Encoding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data.xlsx had it?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 Type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→ 8 normalized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Stratified (own model)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Price + Area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0.5M–110M EGP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log(price_m) target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City + District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1,473 combinations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encoded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(Region only)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Ownership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Primary / Resale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 / 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Payment Option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Cash / Installment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 / 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Completion Status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Ready / Off-plan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/ 0 / 0.5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 NEW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D0D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676656" cy="4206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508760" cy="512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B11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123444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Structure &amp; EDA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34440" y="22677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· New Feature Impact · Correlations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0"/>
            <a:ext cx="11887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Price Distribution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74,240 listings · Median 9.5M EGP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53312"/>
            <a:ext cx="8412480" cy="278658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— Right-skewed (skewness 2.63). Studios and Apartments are most affordable; Villas command the highest prices.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New Features Impact on Price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+ Ready + Cash = highest prices across all comparisons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53312"/>
            <a:ext cx="8412480" cy="2809215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— These three features (Ownership, Completion, Payment) were absent in data.xlsx and Kaggle datasets.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Feature Correlations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City+District and Area are the two strongest predictors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15963" y="1353312"/>
            <a:ext cx="3712075" cy="32918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7 — City+District (r≈0.42) dominates. Ownership, Payment, Completion add independent signal not in prior datasets.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676656" cy="4206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508760" cy="512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B11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123444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&amp; ML Models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34440" y="22677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RF + GB · Features · Results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0"/>
            <a:ext cx="11887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Results — Stratified Models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Global: R²=0.7576  MAE=3.532M EGP  MAPE=27.87%</a:t>
            </a:r>
            <a:endParaRPr lang="en-US" sz="11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316736"/>
          <a:ext cx="85953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737360"/>
                <a:gridCol w="1188720"/>
                <a:gridCol w="1371600"/>
                <a:gridCol w="1234440"/>
                <a:gridCol w="123444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4795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Apartment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43,399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2.056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Villa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13,975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7.933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0.602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Town 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5,565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3.816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24.1%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Twin House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3,387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4.512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7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23.2% 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Duplex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Gradient Boosting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3,435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3.322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0.410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31.4%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Studio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994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Global 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74,240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4EDD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3.532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0.758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27.87%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C8D8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8D5B5"/>
                    </a:solidFill>
                  </a:tcPr>
                </a:tc>
              </a:tr>
            </a:tbl>
          </a:graphicData>
        </a:graphic>
      </p:graphicFrame>
      <p:sp>
        <p:nvSpPr>
          <p:cNvPr id="12" name="Shape 6"/>
          <p:cNvSpPr/>
          <p:nvPr/>
        </p:nvSpPr>
        <p:spPr>
          <a:xfrm>
            <a:off x="274320" y="3913632"/>
            <a:ext cx="1993392" cy="768096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7"/>
          <p:cNvSpPr/>
          <p:nvPr/>
        </p:nvSpPr>
        <p:spPr>
          <a:xfrm>
            <a:off x="274320" y="393192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3.532M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274320" y="436168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MAE</a:t>
            </a:r>
            <a:endParaRPr lang="en-US" sz="900" dirty="0"/>
          </a:p>
        </p:txBody>
      </p:sp>
      <p:sp>
        <p:nvSpPr>
          <p:cNvPr id="15" name="Shape 9"/>
          <p:cNvSpPr/>
          <p:nvPr/>
        </p:nvSpPr>
        <p:spPr>
          <a:xfrm>
            <a:off x="2450592" y="3913632"/>
            <a:ext cx="1993392" cy="768096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0"/>
          <p:cNvSpPr/>
          <p:nvPr/>
        </p:nvSpPr>
        <p:spPr>
          <a:xfrm>
            <a:off x="2450592" y="393192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0.7576</a:t>
            </a:r>
            <a:endParaRPr lang="en-US" sz="2200" dirty="0"/>
          </a:p>
        </p:txBody>
      </p:sp>
      <p:sp>
        <p:nvSpPr>
          <p:cNvPr id="17" name="Text 11"/>
          <p:cNvSpPr/>
          <p:nvPr/>
        </p:nvSpPr>
        <p:spPr>
          <a:xfrm>
            <a:off x="2450592" y="436168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R²</a:t>
            </a:r>
            <a:endParaRPr lang="en-US" sz="900" dirty="0"/>
          </a:p>
        </p:txBody>
      </p:sp>
      <p:sp>
        <p:nvSpPr>
          <p:cNvPr id="18" name="Shape 12"/>
          <p:cNvSpPr/>
          <p:nvPr/>
        </p:nvSpPr>
        <p:spPr>
          <a:xfrm>
            <a:off x="4626864" y="3913632"/>
            <a:ext cx="1993392" cy="768096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3"/>
          <p:cNvSpPr/>
          <p:nvPr/>
        </p:nvSpPr>
        <p:spPr>
          <a:xfrm>
            <a:off x="4626864" y="393192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27.87%</a:t>
            </a:r>
            <a:endParaRPr lang="en-US" sz="2200" dirty="0"/>
          </a:p>
        </p:txBody>
      </p:sp>
      <p:sp>
        <p:nvSpPr>
          <p:cNvPr id="20" name="Text 14"/>
          <p:cNvSpPr/>
          <p:nvPr/>
        </p:nvSpPr>
        <p:spPr>
          <a:xfrm>
            <a:off x="4626864" y="436168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MAPE</a:t>
            </a:r>
            <a:endParaRPr lang="en-US" sz="900" dirty="0"/>
          </a:p>
        </p:txBody>
      </p:sp>
      <p:sp>
        <p:nvSpPr>
          <p:cNvPr id="21" name="Shape 15"/>
          <p:cNvSpPr/>
          <p:nvPr/>
        </p:nvSpPr>
        <p:spPr>
          <a:xfrm>
            <a:off x="6803136" y="3913632"/>
            <a:ext cx="1993392" cy="768096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16"/>
          <p:cNvSpPr/>
          <p:nvPr/>
        </p:nvSpPr>
        <p:spPr>
          <a:xfrm>
            <a:off x="6803136" y="3931920"/>
            <a:ext cx="199339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99.3%</a:t>
            </a:r>
            <a:endParaRPr lang="en-US" sz="2200" dirty="0"/>
          </a:p>
        </p:txBody>
      </p:sp>
      <p:sp>
        <p:nvSpPr>
          <p:cNvPr id="23" name="Text 17"/>
          <p:cNvSpPr/>
          <p:nvPr/>
        </p:nvSpPr>
        <p:spPr>
          <a:xfrm>
            <a:off x="6803136" y="4361688"/>
            <a:ext cx="199339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 Success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per Property Type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 — MAPE, R², and record count per type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53312"/>
            <a:ext cx="8412480" cy="2321117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8 — Town House (24.1%) and Twin House (23.2%) have the best MAPE.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vs. Predicted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 — All 8 property types on 20% held-out test set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420" y="1353312"/>
            <a:ext cx="7391159" cy="3291840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9 — Tighter clustering around the diagonal = better predictions.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Importances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 — City+District dominates all four top property types</a:t>
            </a:r>
            <a:endParaRPr lang="en-US" sz="11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" y="1353312"/>
            <a:ext cx="8412480" cy="208690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365760" y="4626864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10 — City+District is consistently the most important feature, confirming location as the primary price driver.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676656" cy="4206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508760" cy="512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B11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123444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34440" y="22677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+ Streamlit Community Cloud · GitHub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0"/>
            <a:ext cx="11887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 — Local &amp; Streamlit Community Cloud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 — Live Application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4320" y="1298448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7"/>
          <p:cNvSpPr/>
          <p:nvPr/>
        </p:nvSpPr>
        <p:spPr>
          <a:xfrm>
            <a:off x="274320" y="1298448"/>
            <a:ext cx="2743200" cy="292608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365760" y="13350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💻 Local Setup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365760" y="1645920"/>
            <a:ext cx="2578608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-r requirements.txt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train.py  →  model_final.pkl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run app.py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 at http://localhost:8501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Cascading: Governorate → City → District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Per-type model accuracy shown live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3200400" y="1298448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3200400" y="1298448"/>
            <a:ext cx="2743200" cy="292608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291840" y="13350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 Streamlit Cloud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291840" y="1645920"/>
            <a:ext cx="2578608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code to GitHub (excl. model_final.pkl)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share.streamlit.io → New 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repo · branch: main · file: app.py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→ app.streamlit.app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Settings → Files → upload model_final.pkl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at: your-app.streamlit.app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6126480" y="1298448"/>
            <a:ext cx="2743200" cy="3310128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26480" y="1298448"/>
            <a:ext cx="2743200" cy="292608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6217920" y="1335024"/>
            <a:ext cx="25786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🐙 GitHub Files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6217920" y="1645920"/>
            <a:ext cx="2578608" cy="2871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app.py  ·  train.py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dubizzle_scraper.py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Egypt_RE_Appraiser_Final.ipynb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requirements.txt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requirements_scraper.txt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README.md  ·  .gitignore</a:t>
            </a:r>
            <a:endParaRPr lang="en-US" sz="9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— Screenshots</a:t>
            </a:r>
            <a:endParaRPr lang="en-US" sz="2200" dirty="0"/>
          </a:p>
        </p:txBody>
      </p:sp>
      <p:sp>
        <p:nvSpPr>
          <p:cNvPr id="10" name="Text 5"/>
          <p:cNvSpPr/>
          <p:nvPr/>
        </p:nvSpPr>
        <p:spPr>
          <a:xfrm>
            <a:off x="365760" y="1069848"/>
            <a:ext cx="84124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after running the app locally or deploying to Streamlit Cloud</a:t>
            </a:r>
            <a:endParaRPr lang="en-US" sz="1100" dirty="0"/>
          </a:p>
        </p:txBody>
      </p:sp>
      <p:sp>
        <p:nvSpPr>
          <p:cNvPr id="11" name="Shape 6"/>
          <p:cNvSpPr/>
          <p:nvPr/>
        </p:nvSpPr>
        <p:spPr>
          <a:xfrm>
            <a:off x="274320" y="1298448"/>
            <a:ext cx="4114800" cy="3383280"/>
          </a:xfrm>
          <a:prstGeom prst="rect">
            <a:avLst/>
          </a:prstGeom>
          <a:solidFill>
            <a:srgbClr val="F8F8F8"/>
          </a:solidFill>
          <a:ln w="9525">
            <a:solidFill>
              <a:srgbClr val="AAAAAA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7"/>
          <p:cNvSpPr/>
          <p:nvPr/>
        </p:nvSpPr>
        <p:spPr>
          <a:xfrm>
            <a:off x="2057400" y="25328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457200" y="2898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1: Main Interface</a:t>
            </a:r>
            <a:endParaRPr lang="en-US" sz="1000" dirty="0"/>
          </a:p>
        </p:txBody>
      </p:sp>
      <p:sp>
        <p:nvSpPr>
          <p:cNvPr id="14" name="Text 9"/>
          <p:cNvSpPr/>
          <p:nvPr/>
        </p:nvSpPr>
        <p:spPr>
          <a:xfrm>
            <a:off x="45720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 type selector + cascading location dropdowns + detail inputs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754880" y="1298448"/>
            <a:ext cx="4114800" cy="3383280"/>
          </a:xfrm>
          <a:prstGeom prst="rect">
            <a:avLst/>
          </a:prstGeom>
          <a:solidFill>
            <a:srgbClr val="F8F8F8"/>
          </a:solidFill>
          <a:ln w="9525">
            <a:solidFill>
              <a:srgbClr val="AAAAAA"/>
            </a:solidFill>
            <a:prstDash val="dash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/>
          <p:nvPr/>
        </p:nvSpPr>
        <p:spPr>
          <a:xfrm>
            <a:off x="6537960" y="253288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📸</a:t>
            </a:r>
            <a:endParaRPr lang="en-US" sz="2400" dirty="0"/>
          </a:p>
        </p:txBody>
      </p:sp>
      <p:sp>
        <p:nvSpPr>
          <p:cNvPr id="17" name="Text 12"/>
          <p:cNvSpPr/>
          <p:nvPr/>
        </p:nvSpPr>
        <p:spPr>
          <a:xfrm>
            <a:off x="4937760" y="289864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7777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2: Prediction Result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999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Estimated price + property summary table + model accuracy info</a:t>
            </a:r>
            <a:endParaRPr lang="en-US" sz="900" dirty="0"/>
          </a:p>
        </p:txBody>
      </p:sp>
      <p:sp>
        <p:nvSpPr>
          <p:cNvPr id="19" name="Text 14"/>
          <p:cNvSpPr/>
          <p:nvPr/>
        </p:nvSpPr>
        <p:spPr>
          <a:xfrm>
            <a:off x="274320" y="4663440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Run  streamlit run app.py  →  enter property details →  click '💰 Estimate Price'  →  take screenshot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4592" y="109728"/>
            <a:ext cx="676656" cy="420624"/>
          </a:xfrm>
          <a:prstGeom prst="rect">
            <a:avLst/>
          </a:prstGeom>
        </p:spPr>
      </p:pic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91440"/>
            <a:ext cx="1508760" cy="51206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82880" y="1280160"/>
            <a:ext cx="914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D7B119">
                    <a:alpha val="75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5600" dirty="0"/>
          </a:p>
        </p:txBody>
      </p:sp>
      <p:sp>
        <p:nvSpPr>
          <p:cNvPr id="8" name="Text 4"/>
          <p:cNvSpPr/>
          <p:nvPr/>
        </p:nvSpPr>
        <p:spPr>
          <a:xfrm>
            <a:off x="1234440" y="1463040"/>
            <a:ext cx="7315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&amp; Deliverables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1234440" y="2267712"/>
            <a:ext cx="73152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9 — Roles · Deliverables · Future Work</a:t>
            </a:r>
            <a:endParaRPr lang="en-US" sz="13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572000"/>
            <a:ext cx="1188720" cy="278892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" y="54864"/>
            <a:ext cx="621792" cy="384048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8080" y="36576"/>
            <a:ext cx="1417320" cy="47548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548640"/>
            <a:ext cx="9144000" cy="22860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64592" y="4882896"/>
            <a:ext cx="1371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</a:t>
            </a:r>
            <a:endParaRPr lang="en-US" sz="9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823960" y="4882896"/>
            <a:ext cx="2286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  <p:sp>
        <p:nvSpPr>
          <p:cNvPr id="9" name="Text 4"/>
          <p:cNvSpPr/>
          <p:nvPr/>
        </p:nvSpPr>
        <p:spPr>
          <a:xfrm>
            <a:off x="365760" y="612648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 &amp; Deliverables</a:t>
            </a:r>
            <a:endParaRPr lang="en-US" sz="2200" dirty="0"/>
          </a:p>
        </p:txBody>
      </p:sp>
      <p:sp>
        <p:nvSpPr>
          <p:cNvPr id="10" name="Shape 5"/>
          <p:cNvSpPr/>
          <p:nvPr/>
        </p:nvSpPr>
        <p:spPr>
          <a:xfrm>
            <a:off x="274320" y="1298448"/>
            <a:ext cx="4224528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6"/>
          <p:cNvSpPr/>
          <p:nvPr/>
        </p:nvSpPr>
        <p:spPr>
          <a:xfrm>
            <a:off x="274320" y="1298448"/>
            <a:ext cx="4224528" cy="329184"/>
          </a:xfrm>
          <a:prstGeom prst="rect">
            <a:avLst/>
          </a:prstGeom>
          <a:solidFill>
            <a:srgbClr val="047954"/>
          </a:solidFill>
          <a:ln w="12700">
            <a:solidFill>
              <a:srgbClr val="047954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365760" y="135331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1 — Data Engineer</a:t>
            </a:r>
            <a:endParaRPr lang="en-US" sz="1050" dirty="0"/>
          </a:p>
        </p:txBody>
      </p:sp>
      <p:sp>
        <p:nvSpPr>
          <p:cNvPr id="13" name="Text 8"/>
          <p:cNvSpPr/>
          <p:nvPr/>
        </p:nvSpPr>
        <p:spPr>
          <a:xfrm>
            <a:off x="365760" y="1700784"/>
            <a:ext cx="404164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Stage 1 URL collector (107K URLs)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Stage 2 aiohttp scraper (99.3% success)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scraping infra &amp; anti-detection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dataset validation &amp; QA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4700016" y="1298448"/>
            <a:ext cx="4224528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700016" y="1298448"/>
            <a:ext cx="4224528" cy="329184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sp>
        <p:nvSpPr>
          <p:cNvPr id="16" name="Text 11"/>
          <p:cNvSpPr/>
          <p:nvPr/>
        </p:nvSpPr>
        <p:spPr>
          <a:xfrm>
            <a:off x="4791456" y="1353312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2 — Data Analyst</a:t>
            </a:r>
            <a:endParaRPr lang="en-US" sz="1050" dirty="0"/>
          </a:p>
        </p:txBody>
      </p:sp>
      <p:sp>
        <p:nvSpPr>
          <p:cNvPr id="17" name="Text 12"/>
          <p:cNvSpPr/>
          <p:nvPr/>
        </p:nvSpPr>
        <p:spPr>
          <a:xfrm>
            <a:off x="4791456" y="1700784"/>
            <a:ext cx="404164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+ district fix logic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EDA: 11 analytical figures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encoding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Log-transform &amp; outlier analysis</a:t>
            </a:r>
            <a:endParaRPr lang="en-US" sz="950" dirty="0"/>
          </a:p>
        </p:txBody>
      </p:sp>
      <p:sp>
        <p:nvSpPr>
          <p:cNvPr id="18" name="Shape 13"/>
          <p:cNvSpPr/>
          <p:nvPr/>
        </p:nvSpPr>
        <p:spPr>
          <a:xfrm>
            <a:off x="274320" y="3108960"/>
            <a:ext cx="4224528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274320" y="3108960"/>
            <a:ext cx="4224528" cy="329184"/>
          </a:xfrm>
          <a:prstGeom prst="rect">
            <a:avLst/>
          </a:prstGeom>
          <a:solidFill>
            <a:srgbClr val="0FAB7D"/>
          </a:solidFill>
          <a:ln w="12700">
            <a:solidFill>
              <a:srgbClr val="0FAB7D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365760" y="316382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3 — ML Engineer</a:t>
            </a:r>
            <a:endParaRPr lang="en-US" sz="1050" dirty="0"/>
          </a:p>
        </p:txBody>
      </p:sp>
      <p:sp>
        <p:nvSpPr>
          <p:cNvPr id="21" name="Text 16"/>
          <p:cNvSpPr/>
          <p:nvPr/>
        </p:nvSpPr>
        <p:spPr>
          <a:xfrm>
            <a:off x="365760" y="3511296"/>
            <a:ext cx="404164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Stratified model training (RF + GB)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selection &amp; CV evaluation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app development &amp; cloud deploy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model_final.pkl bundle creation</a:t>
            </a:r>
            <a:endParaRPr lang="en-US" sz="950" dirty="0"/>
          </a:p>
        </p:txBody>
      </p:sp>
      <p:sp>
        <p:nvSpPr>
          <p:cNvPr id="22" name="Shape 17"/>
          <p:cNvSpPr/>
          <p:nvPr/>
        </p:nvSpPr>
        <p:spPr>
          <a:xfrm>
            <a:off x="4700016" y="3108960"/>
            <a:ext cx="4224528" cy="1700784"/>
          </a:xfrm>
          <a:prstGeom prst="rect">
            <a:avLst/>
          </a:prstGeom>
          <a:solidFill>
            <a:srgbClr val="FFFFFF"/>
          </a:solidFill>
          <a:ln w="9525">
            <a:solidFill>
              <a:srgbClr val="D8E4F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4700016" y="3108960"/>
            <a:ext cx="4224528" cy="329184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791456" y="3163824"/>
            <a:ext cx="4041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4 — Documentation</a:t>
            </a:r>
            <a:endParaRPr lang="en-US" sz="1050" dirty="0"/>
          </a:p>
        </p:txBody>
      </p:sp>
      <p:sp>
        <p:nvSpPr>
          <p:cNvPr id="25" name="Text 20"/>
          <p:cNvSpPr/>
          <p:nvPr/>
        </p:nvSpPr>
        <p:spPr>
          <a:xfrm>
            <a:off x="4791456" y="3511296"/>
            <a:ext cx="4041648" cy="12252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9-section project documentation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DEPI presentation design (28 slides)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README &amp; project setup guide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 &amp; proposal write-up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D7B119"/>
          </a:solidFill>
          <a:ln w="12700">
            <a:solidFill>
              <a:srgbClr val="D7B11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914400" y="-914400"/>
            <a:ext cx="2926080" cy="2926080"/>
          </a:xfrm>
          <a:prstGeom prst="ellipse">
            <a:avLst/>
          </a:prstGeom>
          <a:solidFill>
            <a:srgbClr val="047954">
              <a:alpha val="18000"/>
            </a:srgbClr>
          </a:solidFill>
          <a:ln w="12700">
            <a:solidFill>
              <a:srgbClr val="047954">
                <a:alpha val="18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0" y="3200400"/>
            <a:ext cx="2194560" cy="2194560"/>
          </a:xfrm>
          <a:prstGeom prst="ellipse">
            <a:avLst/>
          </a:prstGeom>
          <a:solidFill>
            <a:srgbClr val="336EA8">
              <a:alpha val="22000"/>
            </a:srgbClr>
          </a:solidFill>
          <a:ln w="12700">
            <a:solidFill>
              <a:srgbClr val="336EA8">
                <a:alpha val="22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168" y="109728"/>
            <a:ext cx="768096" cy="475488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70064" y="91440"/>
            <a:ext cx="1536192" cy="5303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00400" y="804672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dirty="0">
                <a:solidFill>
                  <a:srgbClr val="000000"/>
                </a:solidFill>
              </a:rPr>
              <a:t>🏠</a:t>
            </a:r>
            <a:endParaRPr lang="en-US" sz="4800" dirty="0"/>
          </a:p>
        </p:txBody>
      </p:sp>
      <p:sp>
        <p:nvSpPr>
          <p:cNvPr id="9" name="Text 5"/>
          <p:cNvSpPr/>
          <p:nvPr/>
        </p:nvSpPr>
        <p:spPr>
          <a:xfrm>
            <a:off x="914400" y="1609344"/>
            <a:ext cx="73152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10" name="Text 6"/>
          <p:cNvSpPr/>
          <p:nvPr/>
        </p:nvSpPr>
        <p:spPr>
          <a:xfrm>
            <a:off x="1371600" y="2450592"/>
            <a:ext cx="64008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Egypt Real Estate Appraiser  ·  Dubizzle Scrape  ·  DEPI 2026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1828800" y="2834640"/>
            <a:ext cx="5486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A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Feedback Welcome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1005840" y="3364992"/>
            <a:ext cx="1609344" cy="914400"/>
          </a:xfrm>
          <a:prstGeom prst="rect">
            <a:avLst/>
          </a:prstGeom>
          <a:solidFill>
            <a:srgbClr val="047954">
              <a:alpha val="82000"/>
            </a:srgbClr>
          </a:solidFill>
          <a:ln w="12700">
            <a:solidFill>
              <a:srgbClr val="047954">
                <a:alpha val="60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005840" y="3383280"/>
            <a:ext cx="1609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74K</a:t>
            </a:r>
            <a:endParaRPr lang="en-US" sz="2400" dirty="0"/>
          </a:p>
        </p:txBody>
      </p:sp>
      <p:sp>
        <p:nvSpPr>
          <p:cNvPr id="14" name="Text 10"/>
          <p:cNvSpPr/>
          <p:nvPr/>
        </p:nvSpPr>
        <p:spPr>
          <a:xfrm>
            <a:off x="1005840" y="38587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2834640" y="3364992"/>
            <a:ext cx="1609344" cy="914400"/>
          </a:xfrm>
          <a:prstGeom prst="rect">
            <a:avLst/>
          </a:prstGeom>
          <a:solidFill>
            <a:srgbClr val="336EA8">
              <a:alpha val="82000"/>
            </a:srgbClr>
          </a:solidFill>
          <a:ln w="12700">
            <a:solidFill>
              <a:srgbClr val="336EA8">
                <a:alpha val="60000"/>
              </a:srgbClr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834640" y="3383280"/>
            <a:ext cx="1609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0.758</a:t>
            </a:r>
            <a:endParaRPr lang="en-US" sz="2400" dirty="0"/>
          </a:p>
        </p:txBody>
      </p:sp>
      <p:sp>
        <p:nvSpPr>
          <p:cNvPr id="17" name="Text 13"/>
          <p:cNvSpPr/>
          <p:nvPr/>
        </p:nvSpPr>
        <p:spPr>
          <a:xfrm>
            <a:off x="2834640" y="38587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4663440" y="3364992"/>
            <a:ext cx="1609344" cy="914400"/>
          </a:xfrm>
          <a:prstGeom prst="rect">
            <a:avLst/>
          </a:prstGeom>
          <a:solidFill>
            <a:srgbClr val="0FAB7D">
              <a:alpha val="82000"/>
            </a:srgbClr>
          </a:solidFill>
          <a:ln w="12700">
            <a:solidFill>
              <a:srgbClr val="0FAB7D">
                <a:alpha val="60000"/>
              </a:srgbClr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663440" y="3383280"/>
            <a:ext cx="1609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4663440" y="38587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</a:t>
            </a:r>
            <a:endParaRPr lang="en-US" sz="900" dirty="0"/>
          </a:p>
        </p:txBody>
      </p:sp>
      <p:sp>
        <p:nvSpPr>
          <p:cNvPr id="21" name="Shape 17"/>
          <p:cNvSpPr/>
          <p:nvPr/>
        </p:nvSpPr>
        <p:spPr>
          <a:xfrm>
            <a:off x="6492240" y="3364992"/>
            <a:ext cx="1609344" cy="914400"/>
          </a:xfrm>
          <a:prstGeom prst="rect">
            <a:avLst/>
          </a:prstGeom>
          <a:solidFill>
            <a:srgbClr val="D7B119">
              <a:alpha val="82000"/>
            </a:srgbClr>
          </a:solidFill>
          <a:ln w="12700">
            <a:solidFill>
              <a:srgbClr val="D7B119">
                <a:alpha val="6000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492240" y="3383280"/>
            <a:ext cx="1609344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400" dirty="0"/>
          </a:p>
        </p:txBody>
      </p:sp>
      <p:sp>
        <p:nvSpPr>
          <p:cNvPr id="23" name="Text 19"/>
          <p:cNvSpPr/>
          <p:nvPr/>
        </p:nvSpPr>
        <p:spPr>
          <a:xfrm>
            <a:off x="6492240" y="3858768"/>
            <a:ext cx="1609344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Property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1371600" y="4407408"/>
            <a:ext cx="64008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B8F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 github.com/your-username/egypt-real-estate-appraiser  ·  🌐 your-app.streamlit.app</a:t>
            </a:r>
            <a:endParaRPr lang="en-US" sz="950" dirty="0"/>
          </a:p>
        </p:txBody>
      </p:sp>
      <p:sp>
        <p:nvSpPr>
          <p:cNvPr id="25" name="Shape 21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336EA8"/>
          </a:solidFill>
          <a:ln w="12700">
            <a:solidFill>
              <a:srgbClr val="336EA8"/>
            </a:solidFill>
            <a:prstDash val="solid"/>
          </a:ln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77640" y="4864608"/>
            <a:ext cx="1188720" cy="278892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274320" y="4882896"/>
            <a:ext cx="85953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 2026  ·  Digital Egypt Pioneers  ·  Data Science Track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2026-05-19T09:32:53Z</dcterms:created>
  <dcterms:modified xsi:type="dcterms:W3CDTF">2026-05-19T09:32:53Z</dcterms:modified>
</cp:coreProperties>
</file>