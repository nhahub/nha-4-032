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0354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2" y="-375"/>
            <a:ext cx="54864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657600" cy="146304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914400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987552"/>
            <a:ext cx="3108960" cy="34747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111556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🏠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274320" y="205740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C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235915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" y="25786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Track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28016"/>
            <a:ext cx="192024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31920" y="914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Real Estate</a:t>
            </a:r>
            <a:endParaRPr lang="en-US" sz="3300" dirty="0"/>
          </a:p>
        </p:txBody>
      </p:sp>
      <p:sp>
        <p:nvSpPr>
          <p:cNvPr id="15" name="Text 10"/>
          <p:cNvSpPr/>
          <p:nvPr/>
        </p:nvSpPr>
        <p:spPr>
          <a:xfrm>
            <a:off x="3931920" y="151790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Appraiser</a:t>
            </a:r>
            <a:endParaRPr lang="en-US" sz="3300" dirty="0"/>
          </a:p>
        </p:txBody>
      </p:sp>
      <p:sp>
        <p:nvSpPr>
          <p:cNvPr id="16" name="Shape 11"/>
          <p:cNvSpPr/>
          <p:nvPr/>
        </p:nvSpPr>
        <p:spPr>
          <a:xfrm>
            <a:off x="3931920" y="2157984"/>
            <a:ext cx="5029200" cy="38405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3931920" y="224942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Learning-Based Property Price Prediction</a:t>
            </a:r>
            <a:endParaRPr lang="en-US" sz="1250" b="1" dirty="0"/>
          </a:p>
        </p:txBody>
      </p:sp>
      <p:sp>
        <p:nvSpPr>
          <p:cNvPr id="18" name="Text 13"/>
          <p:cNvSpPr/>
          <p:nvPr/>
        </p:nvSpPr>
        <p:spPr>
          <a:xfrm>
            <a:off x="3749042" y="2633471"/>
            <a:ext cx="5212078" cy="640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El-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Shawadify</a:t>
            </a:r>
            <a:endParaRPr lang="ar-EG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/>
            <a:r>
              <a:rPr lang="ar-EG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Haitham Hany Ahmed</a:t>
            </a:r>
            <a:r>
              <a:rPr lang="ar-EG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/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Hayam Abdullah </a:t>
            </a:r>
          </a:p>
          <a:p>
            <a:pPr algn="just"/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Sara Mohamed </a:t>
            </a:r>
            <a:r>
              <a:rPr lang="ar-EG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100" b="1" dirty="0"/>
          </a:p>
        </p:txBody>
      </p:sp>
      <p:sp>
        <p:nvSpPr>
          <p:cNvPr id="19" name="Text 14"/>
          <p:cNvSpPr/>
          <p:nvPr/>
        </p:nvSpPr>
        <p:spPr>
          <a:xfrm>
            <a:off x="3928922" y="34472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Track  —  DEPI 2026</a:t>
            </a:r>
            <a:endParaRPr lang="en-US" sz="1100" b="1" dirty="0"/>
          </a:p>
        </p:txBody>
      </p:sp>
      <p:sp>
        <p:nvSpPr>
          <p:cNvPr id="20" name="Text 15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 ·  May 2026  ·  Digital Egypt Pioneers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8F4A447-4B02-A2BA-B92C-E1D5C101E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2" y="-674375"/>
            <a:ext cx="2651760" cy="2160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56032" y="1389888"/>
            <a:ext cx="4224528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256032" y="1389888"/>
            <a:ext cx="493776" cy="713232"/>
          </a:xfrm>
          <a:prstGeom prst="rect">
            <a:avLst/>
          </a:prstGeom>
          <a:solidFill>
            <a:srgbClr val="04795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256032" y="1554480"/>
            <a:ext cx="493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296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2296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problem statement, value proposition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718304" y="1389888"/>
            <a:ext cx="4224528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718304" y="1389888"/>
            <a:ext cx="493776" cy="713232"/>
          </a:xfrm>
          <a:prstGeom prst="rect">
            <a:avLst/>
          </a:prstGeom>
          <a:solidFill>
            <a:srgbClr val="04795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718304" y="1554480"/>
            <a:ext cx="493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285232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285232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16,083 listings — price distribution, location analysis, correlations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56032" y="2194560"/>
            <a:ext cx="4224528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256032" y="2194560"/>
            <a:ext cx="493776" cy="713232"/>
          </a:xfrm>
          <a:prstGeom prst="rect">
            <a:avLst/>
          </a:prstGeom>
          <a:solidFill>
            <a:srgbClr val="336EA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256032" y="2359152"/>
            <a:ext cx="493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22960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22960" y="2542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pipeline, encoding, train/test split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718304" y="2194560"/>
            <a:ext cx="4224528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718304" y="2194560"/>
            <a:ext cx="493776" cy="713232"/>
          </a:xfrm>
          <a:prstGeom prst="rect">
            <a:avLst/>
          </a:prstGeom>
          <a:solidFill>
            <a:srgbClr val="336EA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718304" y="2359152"/>
            <a:ext cx="493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285232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285232" y="2542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models: Linear Regression · Random Forest · Gradient Boosting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256032" y="2999232"/>
            <a:ext cx="4224528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256032" y="2999232"/>
            <a:ext cx="493776" cy="713232"/>
          </a:xfrm>
          <a:prstGeom prst="rect">
            <a:avLst/>
          </a:prstGeom>
          <a:solidFill>
            <a:srgbClr val="0FAB7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256032" y="3163824"/>
            <a:ext cx="493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822960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822960" y="3346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metrics: MAE, RMSE, R², MAPE across all models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718304" y="2999232"/>
            <a:ext cx="4224528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4718304" y="2999232"/>
            <a:ext cx="493776" cy="713232"/>
          </a:xfrm>
          <a:prstGeom prst="rect">
            <a:avLst/>
          </a:prstGeom>
          <a:solidFill>
            <a:srgbClr val="0FAB7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4718304" y="3163824"/>
            <a:ext cx="493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5285232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5285232" y="3346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Predicted, Residual analysis, Feature importances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256032" y="3803904"/>
            <a:ext cx="4224528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256032" y="3803904"/>
            <a:ext cx="493776" cy="713232"/>
          </a:xfrm>
          <a:prstGeom prst="rect">
            <a:avLst/>
          </a:prstGeom>
          <a:solidFill>
            <a:srgbClr val="D7B11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/>
          <p:nvPr/>
        </p:nvSpPr>
        <p:spPr>
          <a:xfrm>
            <a:off x="256032" y="3968496"/>
            <a:ext cx="493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5" name="Text 40"/>
          <p:cNvSpPr/>
          <p:nvPr/>
        </p:nvSpPr>
        <p:spPr>
          <a:xfrm>
            <a:off x="822960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822960" y="4151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app, project files, tech stack, running guide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4718304" y="3803904"/>
            <a:ext cx="4224528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3"/>
          <p:cNvSpPr/>
          <p:nvPr/>
        </p:nvSpPr>
        <p:spPr>
          <a:xfrm>
            <a:off x="4718304" y="3803904"/>
            <a:ext cx="493776" cy="713232"/>
          </a:xfrm>
          <a:prstGeom prst="rect">
            <a:avLst/>
          </a:prstGeom>
          <a:solidFill>
            <a:srgbClr val="D7B11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4718304" y="3968496"/>
            <a:ext cx="493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0" name="Text 45"/>
          <p:cNvSpPr/>
          <p:nvPr/>
        </p:nvSpPr>
        <p:spPr>
          <a:xfrm>
            <a:off x="5285232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5285232" y="4151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limitations, and future work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731520" cy="457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7160"/>
            <a:ext cx="160020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7B11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155448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1554480" y="22128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· Problem Statement · Value Proposition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Real Estate Appraiser — ML-powered property price estimation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56032" y="1353312"/>
            <a:ext cx="274320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256032" y="1353312"/>
            <a:ext cx="2743200" cy="310896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347472" y="138988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 Statement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47472" y="1719072"/>
            <a:ext cx="2578608" cy="276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pricing in Egypt is opaque and expertise-dependent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buyers &amp; investors lack reliable data-driven price benchmarks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appraisals are slow, costly, and inconsistent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 Egyptians &amp; foreigners face significant information asymmetry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218688" y="1353312"/>
            <a:ext cx="274320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218688" y="1353312"/>
            <a:ext cx="2743200" cy="310896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3310128" y="138988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Our Solution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310128" y="1719072"/>
            <a:ext cx="2578608" cy="276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price prediction from 6 property features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16,083 real Egyptian property listings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estimates via an interactive Streamlit web app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compared to identify the best performer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181344" y="1353312"/>
            <a:ext cx="2706624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181344" y="1353312"/>
            <a:ext cx="2706624" cy="310896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272784" y="13898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Unique Value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272784" y="1719072"/>
            <a:ext cx="2542032" cy="276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Egypt-specific model trained on local market data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major governorates and property types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 source — upload to GitHub for collaboration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accessible to non-experts and investors alike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Dataset Summary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 and the data we used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56032" y="1371600"/>
            <a:ext cx="4114800" cy="34747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347472" y="1389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Project Objectives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56032" y="1828800"/>
            <a:ext cx="402336" cy="402336"/>
          </a:xfrm>
          <a:prstGeom prst="ellipse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256032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31520" y="1847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accurate property price estimates to real estate seekers and investors.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56032" y="2542032"/>
            <a:ext cx="402336" cy="402336"/>
          </a:xfrm>
          <a:prstGeom prst="ellipse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256032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3152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Egyptian property market using data-driven insights.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56032" y="3255264"/>
            <a:ext cx="402336" cy="402336"/>
          </a:xfrm>
          <a:prstGeom prst="ellipse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256032" y="32552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31520" y="32735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reliable, reproducible, and deployable ML pipeline.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36592" y="1371600"/>
            <a:ext cx="4151376" cy="34747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828032" y="1389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 at a Glance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36592" y="1828800"/>
            <a:ext cx="1847088" cy="841248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736592" y="1847088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16,083</a:t>
            </a:r>
            <a:endParaRPr lang="en-US" sz="2800" dirty="0"/>
          </a:p>
        </p:txBody>
      </p:sp>
      <p:sp>
        <p:nvSpPr>
          <p:cNvPr id="27" name="Text 22"/>
          <p:cNvSpPr/>
          <p:nvPr/>
        </p:nvSpPr>
        <p:spPr>
          <a:xfrm>
            <a:off x="4736592" y="235915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766560" y="1828800"/>
            <a:ext cx="1847088" cy="84124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766560" y="1847088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0" name="Text 25"/>
          <p:cNvSpPr/>
          <p:nvPr/>
        </p:nvSpPr>
        <p:spPr>
          <a:xfrm>
            <a:off x="6766560" y="235915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736592" y="2834640"/>
            <a:ext cx="1847088" cy="841248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4736592" y="2852928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33" name="Text 28"/>
          <p:cNvSpPr/>
          <p:nvPr/>
        </p:nvSpPr>
        <p:spPr>
          <a:xfrm>
            <a:off x="4736592" y="336499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766560" y="2834640"/>
            <a:ext cx="1847088" cy="841248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766560" y="2852928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36" name="Text 31"/>
          <p:cNvSpPr/>
          <p:nvPr/>
        </p:nvSpPr>
        <p:spPr>
          <a:xfrm>
            <a:off x="6766560" y="336499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4736592" y="3913632"/>
            <a:ext cx="4151376" cy="694944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4828032" y="3959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4828032" y="4187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0.19M  ──────────────────────────  36.04M EGP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4828032" y="4370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9.30M  ·  Mean: 11.27M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731520" cy="457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7160"/>
            <a:ext cx="160020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7B11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155448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1554480" y="22128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 · Location · Features · Correlations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Price Distribution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 — median 9.30M EGP, mean 11.27M EGP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371600"/>
            <a:ext cx="8412480" cy="29691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Property price histogram with KDE (left) and box-plot by property type (right). Villas &amp; Twin Houses command highest prices.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Location Analysis &amp; Feature Correlations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Coast leads on price; size is the strongest predictor (r ≈ 0.45)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371600"/>
            <a:ext cx="8412480" cy="305227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Median property price by governorate (left) and feature correlation heatmap (right).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Feature Distributions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properties: 80–250 sqm · 2–3 bedrooms · 2–3 bathrooms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371600"/>
            <a:ext cx="8412480" cy="232717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Distribution histograms for size (sqm), number of bedrooms, and number of bathrooms.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Property Size vs. Price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relationship motivates tree-based models over linear regression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118" y="1371600"/>
            <a:ext cx="5389765" cy="32004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— Scatter plot: property size (sqm) vs. price (M EGP), color-coded by property type.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731520" cy="457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7160"/>
            <a:ext cx="160020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7B11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155448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1554480" y="22128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· Encoding · Train/Test Split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Data Preparation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applied to build the final 6-feature input matrix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28600" y="1353312"/>
            <a:ext cx="184708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228600" y="1353312"/>
            <a:ext cx="1847088" cy="43891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301752" y="137160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Governorate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01752" y="1847088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from full location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— last token after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split → 6 classes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084832" y="2084832"/>
            <a:ext cx="3200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2194560" y="1353312"/>
            <a:ext cx="184708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2194560" y="1353312"/>
            <a:ext cx="1847088" cy="43891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2267712" y="137160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Property Type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2267712" y="1847088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types (iVilla, Cabin,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etc.) merged → parent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or 'Other' → 8 classes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050792" y="2084832"/>
            <a:ext cx="3200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160520" y="1353312"/>
            <a:ext cx="184708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059936" y="1353312"/>
            <a:ext cx="1828800" cy="43891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233672" y="137160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Label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233672" y="1847088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Governorate, Property Type,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converted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integer codes (0, 1, 2…)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016752" y="2084832"/>
            <a:ext cx="3200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989320" y="1344919"/>
            <a:ext cx="184708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989320" y="1353312"/>
            <a:ext cx="1680697" cy="438912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199632" y="1371600"/>
            <a:ext cx="13789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Price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199632" y="1847088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EGP price converted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Million EGP for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stability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7982712" y="2084832"/>
            <a:ext cx="3200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7770601" y="1344919"/>
            <a:ext cx="1391687" cy="166345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7726680" y="1353312"/>
            <a:ext cx="1415521" cy="43891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7936992" y="137160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Train / Test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7936992" y="1847088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(12,866)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 (3,217)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28600" y="3017520"/>
            <a:ext cx="8686800" cy="29260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320040" y="30449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Feature Set (6 inputs → 1 target)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228600" y="3346704"/>
            <a:ext cx="8686800" cy="228600"/>
          </a:xfrm>
          <a:prstGeom prst="rect">
            <a:avLst/>
          </a:prstGeom>
          <a:solidFill>
            <a:srgbClr val="F4F7FA"/>
          </a:solidFill>
          <a:ln w="635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320040" y="3346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size_sqm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2148840" y="33467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3611880" y="33467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area in sq. meters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5897880" y="33467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price driver (&gt;40% importance)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228600" y="3575304"/>
            <a:ext cx="8686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/>
          <p:nvPr/>
        </p:nvSpPr>
        <p:spPr>
          <a:xfrm>
            <a:off x="320040" y="3575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bedrooms_num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2148840" y="3575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3611880" y="3575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bedrooms (1–7)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5897880" y="35753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effect at fixed size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228600" y="3803904"/>
            <a:ext cx="8686800" cy="228600"/>
          </a:xfrm>
          <a:prstGeom prst="rect">
            <a:avLst/>
          </a:prstGeom>
          <a:solidFill>
            <a:srgbClr val="F4F7FA"/>
          </a:solidFill>
          <a:ln w="635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320040" y="3803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2148840" y="38039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50" dirty="0"/>
          </a:p>
        </p:txBody>
      </p:sp>
      <p:sp>
        <p:nvSpPr>
          <p:cNvPr id="51" name="Text 46"/>
          <p:cNvSpPr/>
          <p:nvPr/>
        </p:nvSpPr>
        <p:spPr>
          <a:xfrm>
            <a:off x="3611880" y="38039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bathrooms (1–7)</a:t>
            </a:r>
            <a:endParaRPr lang="en-US" sz="850" dirty="0"/>
          </a:p>
        </p:txBody>
      </p:sp>
      <p:sp>
        <p:nvSpPr>
          <p:cNvPr id="52" name="Text 47"/>
          <p:cNvSpPr/>
          <p:nvPr/>
        </p:nvSpPr>
        <p:spPr>
          <a:xfrm>
            <a:off x="5897880" y="38039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luxury signal (+22% per bath)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228600" y="4032504"/>
            <a:ext cx="8686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320040" y="4032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gov_enc</a:t>
            </a:r>
            <a:endParaRPr lang="en-US" sz="850" dirty="0"/>
          </a:p>
        </p:txBody>
      </p:sp>
      <p:sp>
        <p:nvSpPr>
          <p:cNvPr id="55" name="Text 50"/>
          <p:cNvSpPr/>
          <p:nvPr/>
        </p:nvSpPr>
        <p:spPr>
          <a:xfrm>
            <a:off x="2148840" y="40325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Encoded</a:t>
            </a:r>
            <a:endParaRPr lang="en-US" sz="850" dirty="0"/>
          </a:p>
        </p:txBody>
      </p:sp>
      <p:sp>
        <p:nvSpPr>
          <p:cNvPr id="56" name="Text 51"/>
          <p:cNvSpPr/>
          <p:nvPr/>
        </p:nvSpPr>
        <p:spPr>
          <a:xfrm>
            <a:off x="3611880" y="40325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Cairo, Giza, North Coast…</a:t>
            </a:r>
            <a:endParaRPr lang="en-US" sz="850" dirty="0"/>
          </a:p>
        </p:txBody>
      </p:sp>
      <p:sp>
        <p:nvSpPr>
          <p:cNvPr id="57" name="Text 52"/>
          <p:cNvSpPr/>
          <p:nvPr/>
        </p:nvSpPr>
        <p:spPr>
          <a:xfrm>
            <a:off x="5897880" y="40325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governorate classes</a:t>
            </a:r>
            <a:endParaRPr lang="en-US" sz="850" dirty="0"/>
          </a:p>
        </p:txBody>
      </p:sp>
      <p:sp>
        <p:nvSpPr>
          <p:cNvPr id="58" name="Shape 53"/>
          <p:cNvSpPr/>
          <p:nvPr/>
        </p:nvSpPr>
        <p:spPr>
          <a:xfrm>
            <a:off x="228600" y="4261104"/>
            <a:ext cx="8686800" cy="228600"/>
          </a:xfrm>
          <a:prstGeom prst="rect">
            <a:avLst/>
          </a:prstGeom>
          <a:solidFill>
            <a:srgbClr val="F4F7FA"/>
          </a:solidFill>
          <a:ln w="635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/>
          <p:nvPr/>
        </p:nvSpPr>
        <p:spPr>
          <a:xfrm>
            <a:off x="320040" y="4261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type_enc</a:t>
            </a:r>
            <a:endParaRPr lang="en-US" sz="850" dirty="0"/>
          </a:p>
        </p:txBody>
      </p:sp>
      <p:sp>
        <p:nvSpPr>
          <p:cNvPr id="60" name="Text 55"/>
          <p:cNvSpPr/>
          <p:nvPr/>
        </p:nvSpPr>
        <p:spPr>
          <a:xfrm>
            <a:off x="2148840" y="42611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Encoded</a:t>
            </a:r>
            <a:endParaRPr lang="en-US" sz="850" dirty="0"/>
          </a:p>
        </p:txBody>
      </p:sp>
      <p:sp>
        <p:nvSpPr>
          <p:cNvPr id="61" name="Text 56"/>
          <p:cNvSpPr/>
          <p:nvPr/>
        </p:nvSpPr>
        <p:spPr>
          <a:xfrm>
            <a:off x="3611880" y="42611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Apartment, Villa, Chalet…</a:t>
            </a:r>
            <a:endParaRPr lang="en-US" sz="850" dirty="0"/>
          </a:p>
        </p:txBody>
      </p:sp>
      <p:sp>
        <p:nvSpPr>
          <p:cNvPr id="62" name="Text 57"/>
          <p:cNvSpPr/>
          <p:nvPr/>
        </p:nvSpPr>
        <p:spPr>
          <a:xfrm>
            <a:off x="5897880" y="42611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property type classes</a:t>
            </a:r>
            <a:endParaRPr lang="en-US" sz="850" dirty="0"/>
          </a:p>
        </p:txBody>
      </p:sp>
      <p:sp>
        <p:nvSpPr>
          <p:cNvPr id="63" name="Shape 58"/>
          <p:cNvSpPr/>
          <p:nvPr/>
        </p:nvSpPr>
        <p:spPr>
          <a:xfrm>
            <a:off x="228600" y="4489704"/>
            <a:ext cx="8686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9"/>
          <p:cNvSpPr/>
          <p:nvPr/>
        </p:nvSpPr>
        <p:spPr>
          <a:xfrm>
            <a:off x="320040" y="4489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pay_enc</a:t>
            </a:r>
            <a:endParaRPr lang="en-US" sz="850" dirty="0"/>
          </a:p>
        </p:txBody>
      </p:sp>
      <p:sp>
        <p:nvSpPr>
          <p:cNvPr id="65" name="Text 60"/>
          <p:cNvSpPr/>
          <p:nvPr/>
        </p:nvSpPr>
        <p:spPr>
          <a:xfrm>
            <a:off x="2148840" y="44897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Encoded</a:t>
            </a:r>
            <a:endParaRPr lang="en-US" sz="850" dirty="0"/>
          </a:p>
        </p:txBody>
      </p:sp>
      <p:sp>
        <p:nvSpPr>
          <p:cNvPr id="66" name="Text 61"/>
          <p:cNvSpPr/>
          <p:nvPr/>
        </p:nvSpPr>
        <p:spPr>
          <a:xfrm>
            <a:off x="3611880" y="44897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/ Installments</a:t>
            </a:r>
            <a:endParaRPr lang="en-US" sz="850" dirty="0"/>
          </a:p>
        </p:txBody>
      </p:sp>
      <p:sp>
        <p:nvSpPr>
          <p:cNvPr id="67" name="Text 62"/>
          <p:cNvSpPr/>
          <p:nvPr/>
        </p:nvSpPr>
        <p:spPr>
          <a:xfrm>
            <a:off x="5897880" y="44897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classes — installments +22%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731520" cy="457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7160"/>
            <a:ext cx="160020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7B11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155448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1554480" y="22128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Random Forest · Gradient Boosting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regression models trained and evaluated on the same dataset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37744" y="1353312"/>
            <a:ext cx="2816352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237744" y="1353312"/>
            <a:ext cx="2816352" cy="43891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329184" y="137160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Linear Regression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57784" y="1847088"/>
            <a:ext cx="2176272" cy="237744"/>
          </a:xfrm>
          <a:prstGeom prst="rect">
            <a:avLst/>
          </a:prstGeom>
          <a:solidFill>
            <a:srgbClr val="047954">
              <a:alpha val="15000"/>
            </a:srgbClr>
          </a:solidFill>
          <a:ln w="12700">
            <a:solidFill>
              <a:srgbClr val="0479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557784" y="1847088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29184" y="214884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linear hyperplane in 6-dimensional feature space. Each coefficient directly represents the EGP impact of that feature.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29184" y="281635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Hyperparameters: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29184" y="29900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hyperparameters required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29184" y="3310128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interpretable coefficients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 training and inference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 price-per-sqm quantification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329184" y="4041648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Assumes linear relationships (violated in data)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Cannot capture interactions between features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218688" y="1353312"/>
            <a:ext cx="2816352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218688" y="1353312"/>
            <a:ext cx="2816352" cy="43891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3310128" y="137160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Random Forest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538728" y="1847088"/>
            <a:ext cx="2176272" cy="237744"/>
          </a:xfrm>
          <a:prstGeom prst="rect">
            <a:avLst/>
          </a:prstGeom>
          <a:solidFill>
            <a:srgbClr val="336EA8">
              <a:alpha val="15000"/>
            </a:srgbClr>
          </a:solidFill>
          <a:ln w="12700">
            <a:solidFill>
              <a:srgbClr val="336E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3538728" y="1847088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(Bagging)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3310128" y="214884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decision trees trained on random bootstrapped data subsets. Final prediction = average of all trees.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310128" y="281635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Hyperparameters: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3310128" y="29900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n_estimators=200  ·  max_depth=15  ·  min_samples_leaf=4  ·  random_state=42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3310128" y="3310128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Handles non-linear relationships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Built-in feature importance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Robust to outliers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3310128" y="4041648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Less interpretable than LR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Higher memory footprint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199632" y="1353312"/>
            <a:ext cx="2816352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199632" y="1353312"/>
            <a:ext cx="2816352" cy="438912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291072" y="137160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Gradient Boosting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519672" y="1847088"/>
            <a:ext cx="2176272" cy="237744"/>
          </a:xfrm>
          <a:prstGeom prst="rect">
            <a:avLst/>
          </a:prstGeom>
          <a:solidFill>
            <a:srgbClr val="D7B119">
              <a:alpha val="15000"/>
            </a:srgbClr>
          </a:solidFill>
          <a:ln w="12700">
            <a:solidFill>
              <a:srgbClr val="D7B11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519672" y="1847088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(Boosting) ✅ Best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291072" y="214884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built sequentially — each corrects residuals of the previous. Final prediction = weighted sum of all trees.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6291072" y="281635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Hyperparameters: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6291072" y="29900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n_estimators=200  ·  max_depth=5  ·  learning_rate=0.1  ·  subsample=0.8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6291072" y="3310128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Typically best accuracy on tabular 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Handles heterogeneous feature scales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 regularization via subsampling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6291072" y="4041648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Slower training than RF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More hyperparameters to tune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731520" cy="457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7160"/>
            <a:ext cx="160020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7B11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155448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1554480" y="22128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· MAE · RMSE · R² · MAPE · CV R²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Results Table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held-out test set (3,217 records)  ·  Log-scale target  ·  Green = best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497466"/>
              </p:ext>
            </p:extLst>
          </p:nvPr>
        </p:nvGraphicFramePr>
        <p:xfrm>
          <a:off x="256032" y="1371600"/>
          <a:ext cx="8814817" cy="1036320"/>
        </p:xfrm>
        <a:graphic>
          <a:graphicData uri="http://schemas.openxmlformats.org/drawingml/2006/table">
            <a:tbl>
              <a:tblPr/>
              <a:tblGrid>
                <a:gridCol w="2305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0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6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 EGP)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 EGP)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 (5-fold)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5.324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0.4919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256032" y="3310128"/>
            <a:ext cx="1993392" cy="126187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256032" y="3346704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3.914M</a:t>
            </a:r>
            <a:endParaRPr lang="en-US" sz="2600" dirty="0"/>
          </a:p>
        </p:txBody>
      </p:sp>
      <p:sp>
        <p:nvSpPr>
          <p:cNvPr id="15" name="Text 9"/>
          <p:cNvSpPr/>
          <p:nvPr/>
        </p:nvSpPr>
        <p:spPr>
          <a:xfrm>
            <a:off x="256032" y="396849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256032" y="4224528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50" dirty="0"/>
          </a:p>
        </p:txBody>
      </p:sp>
      <p:sp>
        <p:nvSpPr>
          <p:cNvPr id="12" name="Shape 11"/>
          <p:cNvSpPr/>
          <p:nvPr/>
        </p:nvSpPr>
        <p:spPr>
          <a:xfrm>
            <a:off x="2432304" y="3310128"/>
            <a:ext cx="1993392" cy="126187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2432304" y="3346704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5.324M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2432304" y="396849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RMSE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2432304" y="4224528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4608576" y="3310128"/>
            <a:ext cx="1993392" cy="126187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4608576" y="3346704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0.4919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4608576" y="396849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608576" y="4224528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6784848" y="3310128"/>
            <a:ext cx="1993392" cy="1261872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784848" y="3346704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55.0%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6784848" y="396849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MAPE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784848" y="4224528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256032" y="4636008"/>
            <a:ext cx="8631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= 5-fold cross-validation on training set  ·  MAE &amp; RMSE in Million EGP  ·  MAPE = Mean Absolute Percentage Error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Visual Comparison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bar charts for all three error metrics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371600"/>
            <a:ext cx="8412480" cy="26125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 — MAE (lower = better), R² Score (higher = better), and MAPE (lower = better) across all three models.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731520" cy="457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7160"/>
            <a:ext cx="160020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7B11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155448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1554480" y="22128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· Residuals · Feature Importances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Prices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points to the diagonal = more accurate predictions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56032" y="1353312"/>
            <a:ext cx="8631936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329184" y="13716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test property  ·  Dashed diagonal = perfect prediction  ·  Tighter clustering = better model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691640"/>
            <a:ext cx="8412480" cy="23193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 — Actual vs. predicted scatter for all 3 models. Gradient Boosting shows tightest clustering around the ideal line.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errors should be randomly distributed around zero — no systematic bias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56032" y="1353312"/>
            <a:ext cx="8631936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329184" y="13716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Actual − Predicted  ·  Red dashed line = zero error  ·  Funnel shape = heteroscedasticity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691640"/>
            <a:ext cx="8412480" cy="23193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 — Residual plots. Linear Regression shows systematic under-prediction at high prices. Tree models show more balanced errors.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tree models agree: Size dominates; Type and Location matter most after it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56032" y="1353312"/>
            <a:ext cx="1993392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256032" y="1353312"/>
            <a:ext cx="1993392" cy="274320"/>
          </a:xfrm>
          <a:prstGeom prst="rect">
            <a:avLst/>
          </a:prstGeom>
          <a:solidFill>
            <a:srgbClr val="04795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329184" y="13716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Size (sqm)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29184" y="166420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 importance 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— dominant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driver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432304" y="1353312"/>
            <a:ext cx="1993392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2432304" y="1353312"/>
            <a:ext cx="1993392" cy="274320"/>
          </a:xfrm>
          <a:prstGeom prst="rect">
            <a:avLst/>
          </a:prstGeom>
          <a:solidFill>
            <a:srgbClr val="336EA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2505456" y="13716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Property Type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505456" y="166420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Villa/Penthouse vs.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drives large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differences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608576" y="1353312"/>
            <a:ext cx="1993392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608576" y="1353312"/>
            <a:ext cx="1993392" cy="274320"/>
          </a:xfrm>
          <a:prstGeom prst="rect">
            <a:avLst/>
          </a:prstGeom>
          <a:solidFill>
            <a:srgbClr val="0FAB7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681728" y="13716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Governorate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681728" y="166420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Coast premium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Cairo/Giza pricing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significant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784848" y="1353312"/>
            <a:ext cx="1993392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784848" y="1353312"/>
            <a:ext cx="1993392" cy="274320"/>
          </a:xfrm>
          <a:prstGeom prst="rect">
            <a:avLst/>
          </a:prstGeom>
          <a:solidFill>
            <a:srgbClr val="D7B11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858000" y="13716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858000" y="166420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importance 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vs. cash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with type</a:t>
            </a:r>
            <a:endParaRPr lang="en-US" sz="9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508" y="2340864"/>
            <a:ext cx="7052872" cy="22174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 — Feature importance scores for Random Forest (left) and Gradient Boosting (right). Higher = more predictive.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731520" cy="457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7160"/>
            <a:ext cx="160020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7B11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155448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1554480" y="22128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· Project Files · Running the Application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4434840"/>
            <a:ext cx="137160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of Python tools from data processing to web deployment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56032" y="1353312"/>
            <a:ext cx="188366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256032" y="1353312"/>
            <a:ext cx="1883664" cy="384048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329184" y="1408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3.11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29184" y="17739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29184" y="1975104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pipeline design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&amp; notebook integration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2286000" y="1353312"/>
            <a:ext cx="188366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2286000" y="1353312"/>
            <a:ext cx="1883664" cy="38404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2359152" y="1408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Pandas + NumPy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2359152" y="17739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59152" y="1975104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operations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encoding &amp; transforms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315968" y="1353312"/>
            <a:ext cx="188366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315968" y="1353312"/>
            <a:ext cx="1883664" cy="384048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389120" y="1408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Scikit-learn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389120" y="17739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A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389120" y="1975104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regression models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&amp; metrics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6345936" y="1353312"/>
            <a:ext cx="188366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345936" y="1353312"/>
            <a:ext cx="1883664" cy="384048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419088" y="1408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Matplotlib + Seaborn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419088" y="17739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419088" y="1975104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analytical figures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visualizations in report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256032" y="3090672"/>
            <a:ext cx="188366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256032" y="3090672"/>
            <a:ext cx="1883664" cy="38404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329184" y="31455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Streamlit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329184" y="35112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329184" y="3712464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prediction UI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user inputs &amp; outputs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2286000" y="3090672"/>
            <a:ext cx="188366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2286000" y="3090672"/>
            <a:ext cx="1883664" cy="384048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2359152" y="31455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Joblib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2359152" y="35112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2359152" y="3712464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 model.pkl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model + all encoders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4315968" y="3090672"/>
            <a:ext cx="188366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4315968" y="3090672"/>
            <a:ext cx="1883664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/>
          <p:nvPr/>
        </p:nvSpPr>
        <p:spPr>
          <a:xfrm>
            <a:off x="4389120" y="31455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Jupyter Notebook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4389120" y="35112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Env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4389120" y="3712464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code + visuals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6345936" y="3090672"/>
            <a:ext cx="188366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3"/>
          <p:cNvSpPr/>
          <p:nvPr/>
        </p:nvSpPr>
        <p:spPr>
          <a:xfrm>
            <a:off x="6345936" y="3090672"/>
            <a:ext cx="1883664" cy="384048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6419088" y="31455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6419088" y="35112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6419088" y="3712464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hosting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&amp; history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 &amp; Setup Guide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deliverables committed to GitHub — run in 3 commands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56032" y="1353312"/>
            <a:ext cx="4754880" cy="310896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347472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Repository Structure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56032" y="1719072"/>
            <a:ext cx="4754880" cy="393192"/>
          </a:xfrm>
          <a:prstGeom prst="rect">
            <a:avLst/>
          </a:prstGeom>
          <a:solidFill>
            <a:srgbClr val="F4F7FA"/>
          </a:solidFill>
          <a:ln w="6350">
            <a:solidFill>
              <a:srgbClr val="E0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310896" y="1755648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76656" y="175564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7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cleaned_data.csv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676656" y="1938528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— 16,083 records, 7 columns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256032" y="2121408"/>
            <a:ext cx="4754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310896" y="2157984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76656" y="215798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7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Egypt_Real_Estate_Appraiser.ipynb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76656" y="2340864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EDA + 8 figures + 3 ML models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256032" y="2523744"/>
            <a:ext cx="4754880" cy="393192"/>
          </a:xfrm>
          <a:prstGeom prst="rect">
            <a:avLst/>
          </a:prstGeom>
          <a:solidFill>
            <a:srgbClr val="F4F7FA"/>
          </a:solidFill>
          <a:ln w="6350">
            <a:solidFill>
              <a:srgbClr val="E0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310896" y="256032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76656" y="2560320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7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76656" y="2743200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— loads data → trains → saves model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256032" y="2926080"/>
            <a:ext cx="4754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310896" y="2962656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76656" y="296265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7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76656" y="3145536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— inputs → encoder → predict → display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256032" y="3328416"/>
            <a:ext cx="4754880" cy="393192"/>
          </a:xfrm>
          <a:prstGeom prst="rect">
            <a:avLst/>
          </a:prstGeom>
          <a:solidFill>
            <a:srgbClr val="F4F7FA"/>
          </a:solidFill>
          <a:ln w="6350">
            <a:solidFill>
              <a:srgbClr val="E0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10896" y="336499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76656" y="3364992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7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model.pkl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76656" y="3547872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Gradient Boosting model + label encoders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256032" y="3730752"/>
            <a:ext cx="4754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310896" y="3767328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676656" y="376732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7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76656" y="3950208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dependencies (pip install -r requirements.txt)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256032" y="4133088"/>
            <a:ext cx="4754880" cy="393192"/>
          </a:xfrm>
          <a:prstGeom prst="rect">
            <a:avLst/>
          </a:prstGeom>
          <a:solidFill>
            <a:srgbClr val="F4F7FA"/>
          </a:solidFill>
          <a:ln w="6350">
            <a:solidFill>
              <a:srgbClr val="E0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310896" y="4169664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676656" y="41696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7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676656" y="4352544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guide, model table, usage instructions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5212080" y="1353312"/>
            <a:ext cx="3675888" cy="310896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5303520" y="13716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3-Step Quick Start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5212080" y="1874520"/>
            <a:ext cx="420624" cy="420624"/>
          </a:xfrm>
          <a:prstGeom prst="ellipse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5212080" y="18745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1"/>
          <p:cNvSpPr/>
          <p:nvPr/>
        </p:nvSpPr>
        <p:spPr>
          <a:xfrm>
            <a:off x="5705856" y="18745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5705856" y="2130552"/>
            <a:ext cx="31089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5760720" y="213055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F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5212080" y="2862072"/>
            <a:ext cx="420624" cy="420624"/>
          </a:xfrm>
          <a:prstGeom prst="ellipse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/>
          <p:nvPr/>
        </p:nvSpPr>
        <p:spPr>
          <a:xfrm>
            <a:off x="5212080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6"/>
          <p:cNvSpPr/>
          <p:nvPr/>
        </p:nvSpPr>
        <p:spPr>
          <a:xfrm>
            <a:off x="5705856" y="28620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Train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5705856" y="3118104"/>
            <a:ext cx="31089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5760720" y="311810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F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train.py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5212080" y="3849624"/>
            <a:ext cx="420624" cy="420624"/>
          </a:xfrm>
          <a:prstGeom prst="ellipse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5212080" y="38496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1"/>
          <p:cNvSpPr/>
          <p:nvPr/>
        </p:nvSpPr>
        <p:spPr>
          <a:xfrm>
            <a:off x="5705856" y="38496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Launch</a:t>
            </a:r>
            <a:endParaRPr lang="en-US" sz="1000" dirty="0"/>
          </a:p>
        </p:txBody>
      </p:sp>
      <p:sp>
        <p:nvSpPr>
          <p:cNvPr id="57" name="Shape 52"/>
          <p:cNvSpPr/>
          <p:nvPr/>
        </p:nvSpPr>
        <p:spPr>
          <a:xfrm>
            <a:off x="5705856" y="4105656"/>
            <a:ext cx="31089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3"/>
          <p:cNvSpPr/>
          <p:nvPr/>
        </p:nvSpPr>
        <p:spPr>
          <a:xfrm>
            <a:off x="5760720" y="410565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F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950" dirty="0"/>
          </a:p>
        </p:txBody>
      </p:sp>
      <p:sp>
        <p:nvSpPr>
          <p:cNvPr id="59" name="Shape 54"/>
          <p:cNvSpPr/>
          <p:nvPr/>
        </p:nvSpPr>
        <p:spPr>
          <a:xfrm>
            <a:off x="5212080" y="4572000"/>
            <a:ext cx="3675888" cy="182880"/>
          </a:xfrm>
          <a:prstGeom prst="rect">
            <a:avLst/>
          </a:prstGeom>
          <a:solidFill>
            <a:srgbClr val="EBF8F0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5"/>
          <p:cNvSpPr/>
          <p:nvPr/>
        </p:nvSpPr>
        <p:spPr>
          <a:xfrm>
            <a:off x="5285232" y="4572000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Opens at: http://localhost:8501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731520" cy="457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7160"/>
            <a:ext cx="160020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7B11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155448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1554480" y="22128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· Limitations ·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and models revealed about the Egyptian property market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56032" y="1371600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256032" y="1371600"/>
            <a:ext cx="475488" cy="1060704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256032" y="1700784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4672" y="1426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is the Best Model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04672" y="17007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R²=0.4919, MAE=3.914M EGP, MAPE=56.9%. Outperforms Linear Regression by +14 R² points and beats Random Forest on RMSE.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681728" y="1371600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681728" y="1371600"/>
            <a:ext cx="475488" cy="1060704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681728" y="1700784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230368" y="1426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Relationships Are Critical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230368" y="17007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significantly outperform Linear Regression, confirming that price relationships with size, type, and location are inherently non-linear.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56032" y="2523744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256032" y="2523744"/>
            <a:ext cx="475488" cy="106070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256032" y="2852928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04672" y="2578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Is the Dominant Predictor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04672" y="28529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size accounts for over 40% of feature importance in both RF and GB. Every additional sqm adds ~30,545 EGP on average (Linear Regression estimate).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681728" y="2523744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681728" y="2523744"/>
            <a:ext cx="475488" cy="1060704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681728" y="2852928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230368" y="2578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Type Are Decisive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5230368" y="28529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 and property type together explain a substantial portion of variance. North Coast commands the highest median prices; Apartments are the most affordable.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256032" y="3675888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256032" y="3675888"/>
            <a:ext cx="475488" cy="106070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256032" y="4005072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804672" y="3730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Noise Remains a Challenge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804672" y="40050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of ~56% reflects factors not captured: specific district, floor number, finishing quality, building age, and proximity to amenities.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681728" y="3675888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4681728" y="3675888"/>
            <a:ext cx="475488" cy="10607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4681728" y="4005072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5230368" y="3730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 Signal Luxury Better Than Bedrooms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5230368" y="40050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bathroom adds +22.47% to price (log model). Bedrooms have a negative coefficient at fixed size — more rooms means smaller rooms.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5720"/>
            <a:ext cx="658368" cy="4023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6576"/>
            <a:ext cx="1499616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5603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01168" y="4873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796528" y="48737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47472" y="603504"/>
            <a:ext cx="59436" cy="4572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75488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Recommendations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75488" y="1051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enhancements to push model accuracy and usability further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56032" y="1371600"/>
            <a:ext cx="2779776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256032" y="1371600"/>
            <a:ext cx="2779776" cy="402336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347472" y="144475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NLP Feature Extraction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47472" y="1847088"/>
            <a:ext cx="259689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compound names, amenities, finishing quality, and floor number from description and location text fields.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200400" y="1371600"/>
            <a:ext cx="2779776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200400" y="1371600"/>
            <a:ext cx="2779776" cy="402336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3291840" y="144475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Log-Transform Price Target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291840" y="1847088"/>
            <a:ext cx="259689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log(price) instead of raw price to reduce skewness (2.21→0.07) and improve relative error (MAPE -8%).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144768" y="3017520"/>
            <a:ext cx="2779776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144768" y="3017520"/>
            <a:ext cx="2779776" cy="402336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236208" y="309067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Outlier Handling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36208" y="3493008"/>
            <a:ext cx="259689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luxury properties above 95th percentile or apply robust regression to reduce the influence of extreme prices.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56032" y="3017520"/>
            <a:ext cx="2779776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256032" y="3017520"/>
            <a:ext cx="2779776" cy="402336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347472" y="309067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XGBoost / LightGBM + Optuna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347472" y="3493008"/>
            <a:ext cx="259689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gradient boosting with systematic hyperparameter search (Optuna) to push R² above 0.65.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108960" y="3195828"/>
            <a:ext cx="2779776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3108960" y="3044952"/>
            <a:ext cx="2779776" cy="40233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3273552" y="313354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Geographic Coordinates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3200400" y="3460442"/>
            <a:ext cx="259689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latitude/longitude as features to capture neighborhood-level price effects beyond governorate granularity.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108192" y="1444752"/>
            <a:ext cx="2779776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153912" y="1396746"/>
            <a:ext cx="2779776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336792" y="1483951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Expanded Data Collection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6245352" y="1816583"/>
            <a:ext cx="259689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more listings over time, add building age, floor number, finishing quality, and proximity to amenities.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2926080" cy="2926080"/>
          </a:xfrm>
          <a:prstGeom prst="ellipse">
            <a:avLst/>
          </a:prstGeom>
          <a:solidFill>
            <a:srgbClr val="047954">
              <a:alpha val="22000"/>
            </a:srgbClr>
          </a:solidFill>
          <a:ln w="12700">
            <a:solidFill>
              <a:srgbClr val="047954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06640" y="3291840"/>
            <a:ext cx="2194560" cy="2194560"/>
          </a:xfrm>
          <a:prstGeom prst="ellipse">
            <a:avLst/>
          </a:prstGeom>
          <a:solidFill>
            <a:srgbClr val="336EA8">
              <a:alpha val="25000"/>
            </a:srgbClr>
          </a:solidFill>
          <a:ln w="12700">
            <a:solidFill>
              <a:srgbClr val="336EA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0" y="91440"/>
            <a:ext cx="1280160" cy="1280160"/>
          </a:xfrm>
          <a:prstGeom prst="ellipse">
            <a:avLst/>
          </a:prstGeom>
          <a:solidFill>
            <a:srgbClr val="D7B119">
              <a:alpha val="30000"/>
            </a:srgbClr>
          </a:solidFill>
          <a:ln w="12700">
            <a:solidFill>
              <a:srgbClr val="D7B11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804672" cy="49377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73152"/>
            <a:ext cx="155448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0" y="868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🏠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14400" y="16459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3200400" y="2487168"/>
            <a:ext cx="2743200" cy="50292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14400" y="2578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Real Estate Appraiser  ·  DEPI Final Project 2026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14400" y="296265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A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31520" y="3474720"/>
            <a:ext cx="1792224" cy="804672"/>
          </a:xfrm>
          <a:prstGeom prst="rect">
            <a:avLst/>
          </a:prstGeom>
          <a:solidFill>
            <a:srgbClr val="047954">
              <a:alpha val="85000"/>
            </a:srgbClr>
          </a:solidFill>
          <a:ln w="12700">
            <a:solidFill>
              <a:srgbClr val="04795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31520" y="3502152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16K+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31520" y="395020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Analyzed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724912" y="3474720"/>
            <a:ext cx="1792224" cy="804672"/>
          </a:xfrm>
          <a:prstGeom prst="rect">
            <a:avLst/>
          </a:prstGeom>
          <a:solidFill>
            <a:srgbClr val="336EA8">
              <a:alpha val="85000"/>
            </a:srgbClr>
          </a:solidFill>
          <a:ln w="12700">
            <a:solidFill>
              <a:srgbClr val="33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2724912" y="3502152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2724912" y="395020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Compared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718304" y="3474720"/>
            <a:ext cx="1792224" cy="804672"/>
          </a:xfrm>
          <a:prstGeom prst="rect">
            <a:avLst/>
          </a:prstGeom>
          <a:solidFill>
            <a:srgbClr val="0FAB7D">
              <a:alpha val="85000"/>
            </a:srgbClr>
          </a:solidFill>
          <a:ln w="12700">
            <a:solidFill>
              <a:srgbClr val="0FAB7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718304" y="3502152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4718304" y="395020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MAPE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711696" y="3474720"/>
            <a:ext cx="1792224" cy="804672"/>
          </a:xfrm>
          <a:prstGeom prst="rect">
            <a:avLst/>
          </a:prstGeom>
          <a:solidFill>
            <a:srgbClr val="D7B119">
              <a:alpha val="85000"/>
            </a:srgbClr>
          </a:solidFill>
          <a:ln w="12700">
            <a:solidFill>
              <a:srgbClr val="D7B11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711696" y="3502152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6711696" y="395020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914400" y="437083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team@egypt-realestate.ai   ·   🐙 github.com/your-username/egypt-real-estate-appraiser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4866" y="4870154"/>
            <a:ext cx="9144000" cy="29718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Digital Egypt Pioneers  ·  Data Science Track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2171</Words>
  <Application>Microsoft Office PowerPoint</Application>
  <PresentationFormat>On-screen Show (16:9)</PresentationFormat>
  <Paragraphs>447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Egypt Real Estate Appraiser</dc:title>
  <dc:subject>PptxGenJS Presentation</dc:subject>
  <dc:creator>PptxGenJS</dc:creator>
  <cp:lastModifiedBy>sara mohamed</cp:lastModifiedBy>
  <cp:revision>10</cp:revision>
  <dcterms:created xsi:type="dcterms:W3CDTF">2026-05-15T14:04:09Z</dcterms:created>
  <dcterms:modified xsi:type="dcterms:W3CDTF">2026-05-17T12:56:21Z</dcterms:modified>
</cp:coreProperties>
</file>